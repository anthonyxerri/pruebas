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a del título"/>
          <p:cNvSpPr/>
          <p:nvPr/>
        </p:nvSpPr>
        <p:spPr>
          <a:xfrm>
            <a:off x="347472" y="274320"/>
            <a:ext cx="11475720" cy="868680"/>
          </a:xfrm>
          <a:prstGeom prst="roundRect">
            <a:avLst>
              <a:gd name="adj" fmla="val 21053"/>
            </a:avLst>
          </a:prstGeom>
          <a:solidFill>
            <a:srgbClr val="F4A7AF"/>
          </a:solidFill>
          <a:ln/>
        </p:spPr>
      </p:sp>
      <p:sp>
        <p:nvSpPr>
          <p:cNvPr id="3" name="Título"/>
          <p:cNvSpPr txBox="1"/>
          <p:nvPr/>
        </p:nvSpPr>
        <p:spPr>
          <a:xfrm>
            <a:off x="713232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Mockup · Seguimiento del proceso</a:t>
            </a:r>
            <a:pPr indent="0" marL="0">
              <a:buNone/>
            </a:pPr>
            <a:r>
              <a:rPr lang="en-US" sz="1500" dirty="0">
                <a:solidFill>
                  <a:srgbClr val="5A1A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Visión de punta a punta</a:t>
            </a:r>
            <a:endParaRPr lang="en-US" sz="2400" dirty="0"/>
          </a:p>
        </p:txBody>
      </p:sp>
      <p:sp>
        <p:nvSpPr>
          <p:cNvPr id="4" name="Tarjeta"/>
          <p:cNvSpPr/>
          <p:nvPr/>
        </p:nvSpPr>
        <p:spPr>
          <a:xfrm>
            <a:off x="301752" y="896112"/>
            <a:ext cx="11612880" cy="580644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0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 con datos ficticios · Fuentes previstas: GPME, AME y Nexus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161288"/>
            <a:ext cx="10936224" cy="3917747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3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Cabecera de la pantalla: filtros, recorrido del pleno a la nómina, las dos partes e indicad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188720"/>
            <a:ext cx="10881360" cy="3862883"/>
          </a:xfrm>
          <a:prstGeom prst="rect">
            <a:avLst/>
          </a:prstGeom>
        </p:spPr>
      </p:pic>
      <p:sp>
        <p:nvSpPr>
          <p:cNvPr id="8" name="Marca 1"/>
          <p:cNvSpPr/>
          <p:nvPr/>
        </p:nvSpPr>
        <p:spPr>
          <a:xfrm>
            <a:off x="365760" y="2046827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204682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Marca 2"/>
          <p:cNvSpPr/>
          <p:nvPr/>
        </p:nvSpPr>
        <p:spPr>
          <a:xfrm>
            <a:off x="365760" y="2454878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5760" y="24548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Marca 3"/>
          <p:cNvSpPr/>
          <p:nvPr/>
        </p:nvSpPr>
        <p:spPr>
          <a:xfrm>
            <a:off x="365760" y="2869730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" y="28697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Marca 4"/>
          <p:cNvSpPr/>
          <p:nvPr/>
        </p:nvSpPr>
        <p:spPr>
          <a:xfrm>
            <a:off x="365760" y="3978269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5760" y="39782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Marca 1"/>
          <p:cNvSpPr/>
          <p:nvPr/>
        </p:nvSpPr>
        <p:spPr>
          <a:xfrm>
            <a:off x="640080" y="5522976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5522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969264" y="553212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Periodo, hecho, procedimiento, tipo de acogimiento y notificación</a:t>
            </a:r>
            <a:endParaRPr lang="en-US" sz="1100" dirty="0"/>
          </a:p>
        </p:txBody>
      </p:sp>
      <p:sp>
        <p:nvSpPr>
          <p:cNvPr id="19" name="Marca 2"/>
          <p:cNvSpPr/>
          <p:nvPr/>
        </p:nvSpPr>
        <p:spPr>
          <a:xfrm>
            <a:off x="3429000" y="5522976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429000" y="5522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3758184" y="553212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pleno a la nómina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en 3 tramos, con el tiempo perdido antes de AME a la vista</a:t>
            </a:r>
            <a:endParaRPr lang="en-US" sz="1100" dirty="0"/>
          </a:p>
        </p:txBody>
      </p:sp>
      <p:sp>
        <p:nvSpPr>
          <p:cNvPr id="22" name="Marca 3"/>
          <p:cNvSpPr/>
          <p:nvPr/>
        </p:nvSpPr>
        <p:spPr>
          <a:xfrm>
            <a:off x="6217920" y="5522976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5522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6547104" y="553212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y después del pleno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Protección, en resumen, y la prestación en AME, completa</a:t>
            </a:r>
            <a:endParaRPr lang="en-US" sz="1100" dirty="0"/>
          </a:p>
        </p:txBody>
      </p:sp>
      <p:sp>
        <p:nvSpPr>
          <p:cNvPr id="25" name="Marca 4"/>
          <p:cNvSpPr/>
          <p:nvPr/>
        </p:nvSpPr>
        <p:spPr>
          <a:xfrm>
            <a:off x="9006840" y="5522976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06840" y="5522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9336024" y="553212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clave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pleno a AME, tramitación, tiempos, retrabajo y gestión económica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a del título"/>
          <p:cNvSpPr/>
          <p:nvPr/>
        </p:nvSpPr>
        <p:spPr>
          <a:xfrm>
            <a:off x="347472" y="274320"/>
            <a:ext cx="11475720" cy="868680"/>
          </a:xfrm>
          <a:prstGeom prst="roundRect">
            <a:avLst>
              <a:gd name="adj" fmla="val 21053"/>
            </a:avLst>
          </a:prstGeom>
          <a:solidFill>
            <a:srgbClr val="F4A7AF"/>
          </a:solidFill>
          <a:ln/>
        </p:spPr>
      </p:sp>
      <p:sp>
        <p:nvSpPr>
          <p:cNvPr id="3" name="Título"/>
          <p:cNvSpPr txBox="1"/>
          <p:nvPr/>
        </p:nvSpPr>
        <p:spPr>
          <a:xfrm>
            <a:off x="713232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Mockup · Seguimiento del proceso</a:t>
            </a:r>
            <a:pPr indent="0" marL="0">
              <a:buNone/>
            </a:pPr>
            <a:r>
              <a:rPr lang="en-US" sz="1500" dirty="0">
                <a:solidFill>
                  <a:srgbClr val="5A1A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Análisis y detalle</a:t>
            </a:r>
            <a:endParaRPr lang="en-US" sz="2400" dirty="0"/>
          </a:p>
        </p:txBody>
      </p:sp>
      <p:sp>
        <p:nvSpPr>
          <p:cNvPr id="4" name="Tarjeta"/>
          <p:cNvSpPr/>
          <p:nvPr/>
        </p:nvSpPr>
        <p:spPr>
          <a:xfrm>
            <a:off x="301752" y="896112"/>
            <a:ext cx="11612880" cy="5806440"/>
          </a:xfrm>
          <a:prstGeom prst="roundRect">
            <a:avLst>
              <a:gd name="adj" fmla="val 2362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0" y="6455664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Maqueta con datos ficticios · Fuentes previstas: GPME, AME y Nexus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68749" y="1179576"/>
            <a:ext cx="3388783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3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Tiempo por f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81" y="1207008"/>
            <a:ext cx="3333919" cy="1883664"/>
          </a:xfrm>
          <a:prstGeom prst="rect">
            <a:avLst/>
          </a:prstGeom>
        </p:spPr>
      </p:pic>
      <p:sp>
        <p:nvSpPr>
          <p:cNvPr id="8" name="Marca 1"/>
          <p:cNvSpPr/>
          <p:nvPr/>
        </p:nvSpPr>
        <p:spPr>
          <a:xfrm>
            <a:off x="594360" y="3191256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23544" y="32004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por fase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y procedimientos en cada fase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89189" y="1179576"/>
            <a:ext cx="3388783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3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Entradas, salidas y pendien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6621" y="1207008"/>
            <a:ext cx="3333919" cy="1883664"/>
          </a:xfrm>
          <a:prstGeom prst="rect">
            <a:avLst/>
          </a:prstGeom>
        </p:spPr>
      </p:pic>
      <p:sp>
        <p:nvSpPr>
          <p:cNvPr id="13" name="Marca 2"/>
          <p:cNvSpPr/>
          <p:nvPr/>
        </p:nvSpPr>
        <p:spPr>
          <a:xfrm>
            <a:off x="4114800" y="3191256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14800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4443984" y="3200400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salidas y pendientes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ritmo, mes a mes o por propuesta mensual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6928" y="3776472"/>
            <a:ext cx="3392424" cy="1794567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3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Tiempo perdido del pleno a A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03904"/>
            <a:ext cx="3337560" cy="1739703"/>
          </a:xfrm>
          <a:prstGeom prst="rect">
            <a:avLst/>
          </a:prstGeom>
        </p:spPr>
      </p:pic>
      <p:sp>
        <p:nvSpPr>
          <p:cNvPr id="18" name="Marca 3"/>
          <p:cNvSpPr/>
          <p:nvPr/>
        </p:nvSpPr>
        <p:spPr>
          <a:xfrm>
            <a:off x="594360" y="5644191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56441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923544" y="5653335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perdido del pleno a AME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que llegan tarde y lo que cuestan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087368" y="3776472"/>
            <a:ext cx="3392424" cy="1794567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3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endientes por antigüed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803904"/>
            <a:ext cx="3337560" cy="1739703"/>
          </a:xfrm>
          <a:prstGeom prst="rect">
            <a:avLst/>
          </a:prstGeom>
        </p:spPr>
      </p:pic>
      <p:sp>
        <p:nvSpPr>
          <p:cNvPr id="23" name="Marca 4"/>
          <p:cNvSpPr/>
          <p:nvPr/>
        </p:nvSpPr>
        <p:spPr>
          <a:xfrm>
            <a:off x="4114800" y="5644191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114800" y="564419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4443984" y="5653335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por antigüedad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abierto hoy, por fase y antigüedad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699248" y="1179576"/>
            <a:ext cx="3986784" cy="993610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3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6000"/>
              </a:srgbClr>
            </a:outerShdw>
          </a:effectLst>
        </p:spPr>
      </p:sp>
      <p:pic>
        <p:nvPicPr>
          <p:cNvPr id="27" name="Image 4" descr="Antes del plen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207008"/>
            <a:ext cx="3931920" cy="938746"/>
          </a:xfrm>
          <a:prstGeom prst="rect">
            <a:avLst/>
          </a:prstGeom>
        </p:spPr>
      </p:pic>
      <p:sp>
        <p:nvSpPr>
          <p:cNvPr id="28" name="Marca 5"/>
          <p:cNvSpPr/>
          <p:nvPr/>
        </p:nvSpPr>
        <p:spPr>
          <a:xfrm>
            <a:off x="7726680" y="2246338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726680" y="22463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8055864" y="2255482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pleno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de cada pleno y días hasta AME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7699248" y="2868130"/>
            <a:ext cx="3986784" cy="7601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3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6000"/>
              </a:srgbClr>
            </a:outerShdw>
          </a:effectLst>
        </p:spPr>
      </p:sp>
      <p:pic>
        <p:nvPicPr>
          <p:cNvPr id="32" name="Image 5" descr="Gestión económi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2895562"/>
            <a:ext cx="3931920" cy="705288"/>
          </a:xfrm>
          <a:prstGeom prst="rect">
            <a:avLst/>
          </a:prstGeom>
        </p:spPr>
      </p:pic>
      <p:sp>
        <p:nvSpPr>
          <p:cNvPr id="33" name="Marca 6"/>
          <p:cNvSpPr/>
          <p:nvPr/>
        </p:nvSpPr>
        <p:spPr>
          <a:xfrm>
            <a:off x="7726680" y="3701434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7726680" y="37014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8055864" y="3710578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económica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Nómina, atrasos, pagado de más y reintegros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7699248" y="4323226"/>
            <a:ext cx="3986784" cy="1293419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3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6000"/>
              </a:srgbClr>
            </a:outerShdw>
          </a:effectLst>
        </p:spPr>
      </p:sp>
      <p:pic>
        <p:nvPicPr>
          <p:cNvPr id="37" name="Image 6" descr="Procedimientos en curs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4350658"/>
            <a:ext cx="3931920" cy="1238555"/>
          </a:xfrm>
          <a:prstGeom prst="rect">
            <a:avLst/>
          </a:prstGeom>
        </p:spPr>
      </p:pic>
      <p:sp>
        <p:nvSpPr>
          <p:cNvPr id="38" name="Marca 7"/>
          <p:cNvSpPr/>
          <p:nvPr/>
        </p:nvSpPr>
        <p:spPr>
          <a:xfrm>
            <a:off x="7726680" y="5689797"/>
            <a:ext cx="256032" cy="256032"/>
          </a:xfrm>
          <a:prstGeom prst="ellipse">
            <a:avLst/>
          </a:prstGeom>
          <a:solidFill>
            <a:srgbClr val="C0172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7726680" y="56897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40" name="Text 31"/>
          <p:cNvSpPr txBox="1"/>
          <p:nvPr/>
        </p:nvSpPr>
        <p:spPr>
          <a:xfrm>
            <a:off x="8055864" y="5698941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en curso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a uno: quién lo tiene y su impacto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Mockup · Seguimiento del proceso · Acogimiento familiar</dc:title>
  <dc:subject>PptxGenJS Presentation</dc:subject>
  <dc:creator>PptxGenJS</dc:creator>
  <cp:lastModifiedBy>PptxGenJS</cp:lastModifiedBy>
  <cp:revision>1</cp:revision>
  <dcterms:created xsi:type="dcterms:W3CDTF">2026-10-28T16:31:14Z</dcterms:created>
  <dcterms:modified xsi:type="dcterms:W3CDTF">2026-10-28T16:31:14Z</dcterms:modified>
</cp:coreProperties>
</file>