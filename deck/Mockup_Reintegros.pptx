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Mockup · Reintegros y prescripción</a:t>
            </a:r>
            <a:pPr indent="0" marL="0">
              <a:buNone/>
            </a:pPr>
            <a:r>
              <a:rPr lang="en-US" sz="1500" dirty="0">
                <a:solidFill>
                  <a:srgbClr val="5A1A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Lo que se pierde cada mes</a:t>
            </a:r>
            <a:endParaRPr lang="en-US" sz="24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0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con datos ficticios · Fuente: AME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271016"/>
            <a:ext cx="8787384" cy="4311663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Cabecera del mockup de reintegros: indicadores, filtros, aviso y las dos primeras gráfic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8732520" cy="4256799"/>
          </a:xfrm>
          <a:prstGeom prst="rect">
            <a:avLst/>
          </a:prstGeom>
        </p:spPr>
      </p:pic>
      <p:sp>
        <p:nvSpPr>
          <p:cNvPr id="8" name="Marca 1"/>
          <p:cNvSpPr/>
          <p:nvPr/>
        </p:nvSpPr>
        <p:spPr>
          <a:xfrm>
            <a:off x="448056" y="1459353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" y="14593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Marca 2"/>
          <p:cNvSpPr/>
          <p:nvPr/>
        </p:nvSpPr>
        <p:spPr>
          <a:xfrm>
            <a:off x="448056" y="2243820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" y="22438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Marca 3"/>
          <p:cNvSpPr/>
          <p:nvPr/>
        </p:nvSpPr>
        <p:spPr>
          <a:xfrm>
            <a:off x="448056" y="2845853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" y="28458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Marca 4"/>
          <p:cNvSpPr/>
          <p:nvPr/>
        </p:nvSpPr>
        <p:spPr>
          <a:xfrm>
            <a:off x="448056" y="3247209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" y="32472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Marca 5"/>
          <p:cNvSpPr/>
          <p:nvPr/>
        </p:nvSpPr>
        <p:spPr>
          <a:xfrm>
            <a:off x="4917874" y="3247209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17874" y="32472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Marca 1"/>
          <p:cNvSpPr/>
          <p:nvPr/>
        </p:nvSpPr>
        <p:spPr>
          <a:xfrm>
            <a:off x="9646920" y="136245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46920" y="1362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976104" y="137160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Reintegros abiertos, importe recuperable, próximo vencimiento y lo ya perdido</a:t>
            </a:r>
            <a:endParaRPr lang="en-US" sz="1100" dirty="0"/>
          </a:p>
        </p:txBody>
      </p:sp>
      <p:sp>
        <p:nvSpPr>
          <p:cNvPr id="21" name="Marca 2"/>
          <p:cNvSpPr/>
          <p:nvPr/>
        </p:nvSpPr>
        <p:spPr>
          <a:xfrm>
            <a:off x="9646920" y="223113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46920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976104" y="224028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Origen, motivo, estado y urgencia; por semana, mes, trimestre o año</a:t>
            </a:r>
            <a:endParaRPr lang="en-US" sz="1100" dirty="0"/>
          </a:p>
        </p:txBody>
      </p:sp>
      <p:sp>
        <p:nvSpPr>
          <p:cNvPr id="24" name="Marca 3"/>
          <p:cNvSpPr/>
          <p:nvPr/>
        </p:nvSpPr>
        <p:spPr>
          <a:xfrm>
            <a:off x="9646920" y="309981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469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976104" y="310896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grave primero: caducados o lo que se pierde en 90 días</a:t>
            </a:r>
            <a:endParaRPr lang="en-US" sz="1100" dirty="0"/>
          </a:p>
        </p:txBody>
      </p:sp>
      <p:sp>
        <p:nvSpPr>
          <p:cNvPr id="27" name="Marca 4"/>
          <p:cNvSpPr/>
          <p:nvPr/>
        </p:nvSpPr>
        <p:spPr>
          <a:xfrm>
            <a:off x="9646920" y="396849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46920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976104" y="39776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prescribe cada mes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mensualidad prescribe a los 4 años de su pago</a:t>
            </a:r>
            <a:endParaRPr lang="en-US" sz="1100" dirty="0"/>
          </a:p>
        </p:txBody>
      </p:sp>
      <p:sp>
        <p:nvSpPr>
          <p:cNvPr id="30" name="Marca 5"/>
          <p:cNvSpPr/>
          <p:nvPr/>
        </p:nvSpPr>
        <p:spPr>
          <a:xfrm>
            <a:off x="9646920" y="483717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46920" y="4837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9976104" y="484632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y resolver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ritmo real frente al necesario para que nada caduque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Mockup · Reintegros y prescripción</a:t>
            </a:r>
            <a:pPr indent="0" marL="0">
              <a:buNone/>
            </a:pPr>
            <a:r>
              <a:rPr lang="en-US" sz="1500" dirty="0">
                <a:solidFill>
                  <a:srgbClr val="5A1A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Prioridad, cola y origen</a:t>
            </a:r>
            <a:endParaRPr lang="en-US" sz="24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0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con datos ficticios · Fuente: AME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495544" cy="110056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ioridad real: expedientes por tiempo hasta perder dinero y es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5440680" cy="10457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6929" y="1234440"/>
            <a:ext cx="4668383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Origen del reintegro: importe por motivo y días hasta constar en A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361" y="1261872"/>
            <a:ext cx="4613519" cy="1188720"/>
          </a:xfrm>
          <a:prstGeom prst="rect">
            <a:avLst/>
          </a:prstGeom>
        </p:spPr>
      </p:pic>
      <p:sp>
        <p:nvSpPr>
          <p:cNvPr id="10" name="Marca 1"/>
          <p:cNvSpPr/>
          <p:nvPr/>
        </p:nvSpPr>
        <p:spPr>
          <a:xfrm>
            <a:off x="594360" y="2569464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2578608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real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tiempo hasta perder dinero y estado del procedimiento</a:t>
            </a:r>
            <a:endParaRPr lang="en-US" sz="1100" dirty="0"/>
          </a:p>
        </p:txBody>
      </p:sp>
      <p:sp>
        <p:nvSpPr>
          <p:cNvPr id="13" name="Marca 2"/>
          <p:cNvSpPr/>
          <p:nvPr/>
        </p:nvSpPr>
        <p:spPr>
          <a:xfrm>
            <a:off x="6263640" y="2569464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63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592824" y="257860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reintegro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por motivo y días hasta que el hecho consta en AME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3218688"/>
            <a:ext cx="5495544" cy="20894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La cola de trabajo: expedientes ordenados por la próxima mensualidad que ve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46120"/>
            <a:ext cx="5440680" cy="2034572"/>
          </a:xfrm>
          <a:prstGeom prst="rect">
            <a:avLst/>
          </a:prstGeom>
        </p:spPr>
      </p:pic>
      <p:sp>
        <p:nvSpPr>
          <p:cNvPr id="18" name="Marca 3"/>
          <p:cNvSpPr/>
          <p:nvPr/>
        </p:nvSpPr>
        <p:spPr>
          <a:xfrm>
            <a:off x="594360" y="5390420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53904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23544" y="5399564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de trabajo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a uno, por la próxima mensualidad que vence</a:t>
            </a:r>
            <a:endParaRPr lang="en-US" sz="1100" dirty="0"/>
          </a:p>
        </p:txBody>
      </p:sp>
      <p:sp>
        <p:nvSpPr>
          <p:cNvPr id="21" name="Reglas de cálculo"/>
          <p:cNvSpPr/>
          <p:nvPr/>
        </p:nvSpPr>
        <p:spPr>
          <a:xfrm>
            <a:off x="6263640" y="3246120"/>
            <a:ext cx="5394960" cy="2034572"/>
          </a:xfrm>
          <a:prstGeom prst="roundRect">
            <a:avLst>
              <a:gd name="adj" fmla="val 3595"/>
            </a:avLst>
          </a:prstGeom>
          <a:solidFill>
            <a:srgbClr val="F7F8FA"/>
          </a:solidFill>
          <a:ln w="9525">
            <a:solidFill>
              <a:srgbClr val="DADCE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28232" y="33558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 DE CÁLCULO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428232" y="3630168"/>
            <a:ext cx="2468880" cy="765826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28232" y="3739896"/>
            <a:ext cx="45720" cy="54637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11112" y="3630168"/>
            <a:ext cx="2194560" cy="76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años</a:t>
            </a:r>
            <a:endParaRPr lang="en-US" sz="22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 cada mensualidad, desde su pago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9025128" y="3630168"/>
            <a:ext cx="2468880" cy="765826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025128" y="3739896"/>
            <a:ext cx="45720" cy="546370"/>
          </a:xfrm>
          <a:prstGeom prst="rect">
            <a:avLst/>
          </a:prstGeom>
          <a:solidFill>
            <a:srgbClr val="005B6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208008" y="3630168"/>
            <a:ext cx="2194560" cy="76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Reinicio</a:t>
            </a:r>
            <a:endParaRPr lang="en-US" sz="22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el acuerdo de inicio reinicia los 4 años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6428232" y="4505722"/>
            <a:ext cx="2468880" cy="765826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28232" y="4615450"/>
            <a:ext cx="45720" cy="546370"/>
          </a:xfrm>
          <a:prstGeom prst="rect">
            <a:avLst/>
          </a:prstGeom>
          <a:solidFill>
            <a:srgbClr val="C0172E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611112" y="4505722"/>
            <a:ext cx="2194560" cy="76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22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Caduca el procedimiento si no se resuelve antes</a:t>
            </a:r>
            <a:endParaRPr lang="en-US" sz="2200" dirty="0"/>
          </a:p>
        </p:txBody>
      </p:sp>
      <p:sp>
        <p:nvSpPr>
          <p:cNvPr id="32" name="Shape 27"/>
          <p:cNvSpPr/>
          <p:nvPr/>
        </p:nvSpPr>
        <p:spPr>
          <a:xfrm>
            <a:off x="9025128" y="4505722"/>
            <a:ext cx="2468880" cy="765826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025128" y="4615450"/>
            <a:ext cx="45720" cy="54637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9208008" y="4505722"/>
            <a:ext cx="2194560" cy="76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+25 %</a:t>
            </a:r>
            <a:endParaRPr lang="en-US" sz="22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de demora sobre el interés legal</a:t>
            </a:r>
            <a:endParaRPr lang="en-US" sz="2200" dirty="0"/>
          </a:p>
        </p:txBody>
      </p:sp>
      <p:sp>
        <p:nvSpPr>
          <p:cNvPr id="35" name="Marca 4"/>
          <p:cNvSpPr/>
          <p:nvPr/>
        </p:nvSpPr>
        <p:spPr>
          <a:xfrm>
            <a:off x="6263640" y="5390420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263640" y="53904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6592824" y="5399564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cálculo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confirmar con el art. 13 del Decreto 44/2022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· Reintegros y prescripción · Acogimiento familiar</dc:title>
  <dc:subject>PptxGenJS Presentation</dc:subject>
  <dc:creator>PptxGenJS</dc:creator>
  <cp:lastModifiedBy>PptxGenJS</cp:lastModifiedBy>
  <cp:revision>1</cp:revision>
  <dcterms:created xsi:type="dcterms:W3CDTF">2026-10-28T17:47:37Z</dcterms:created>
  <dcterms:modified xsi:type="dcterms:W3CDTF">2026-10-28T17:47:37Z</dcterms:modified>
</cp:coreProperties>
</file>