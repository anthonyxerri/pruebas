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Flujo de proceso de punta a punta</a:t>
            </a:r>
            <a:pPr indent="0" marL="0">
              <a:buNone/>
            </a:pPr>
            <a:r>
              <a:rPr lang="en-US" sz="1500" dirty="0">
                <a:solidFill>
                  <a:srgbClr val="5A1A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Protección (resumida) y prestación</a:t>
            </a:r>
            <a:endParaRPr lang="en-US" sz="24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3000"/>
              </a:srgbClr>
            </a:outerShdw>
          </a:effectLst>
        </p:spPr>
      </p:sp>
      <p:sp>
        <p:nvSpPr>
          <p:cNvPr id="5" name="Protección"/>
          <p:cNvSpPr/>
          <p:nvPr/>
        </p:nvSpPr>
        <p:spPr>
          <a:xfrm>
            <a:off x="548640" y="1188720"/>
            <a:ext cx="2560320" cy="5074920"/>
          </a:xfrm>
          <a:prstGeom prst="roundRect">
            <a:avLst>
              <a:gd name="adj" fmla="val 3571"/>
            </a:avLst>
          </a:prstGeom>
          <a:solidFill>
            <a:srgbClr val="F3F3F7"/>
          </a:solidFill>
          <a:ln w="12700">
            <a:solidFill>
              <a:srgbClr val="A9AECB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4A5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PROTECCIÓN · GPME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42646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resumido · a validar con su equipo</a:t>
            </a:r>
            <a:endParaRPr lang="en-US" sz="750" dirty="0"/>
          </a:p>
        </p:txBody>
      </p:sp>
      <p:sp>
        <p:nvSpPr>
          <p:cNvPr id="8" name="Medida de protección"/>
          <p:cNvSpPr/>
          <p:nvPr/>
        </p:nvSpPr>
        <p:spPr>
          <a:xfrm>
            <a:off x="731520" y="1700784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91A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86384" y="170078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de protección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 o guarda del menor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83080" y="2157984"/>
            <a:ext cx="0" cy="219456"/>
          </a:xfrm>
          <a:prstGeom prst="line">
            <a:avLst/>
          </a:prstGeom>
          <a:noFill/>
          <a:ln w="12700">
            <a:solidFill>
              <a:srgbClr val="8E91AD"/>
            </a:solidFill>
            <a:prstDash val="solid"/>
            <a:tailEnd type="triangle"/>
          </a:ln>
        </p:spPr>
      </p:sp>
      <p:sp>
        <p:nvSpPr>
          <p:cNvPr id="11" name="Valoración y búsqueda de familia"/>
          <p:cNvSpPr/>
          <p:nvPr/>
        </p:nvSpPr>
        <p:spPr>
          <a:xfrm>
            <a:off x="731520" y="237744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91AD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86384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y búsqueda de familia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extensa o ajena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83080" y="2834640"/>
            <a:ext cx="0" cy="219456"/>
          </a:xfrm>
          <a:prstGeom prst="line">
            <a:avLst/>
          </a:prstGeom>
          <a:noFill/>
          <a:ln w="12700">
            <a:solidFill>
              <a:srgbClr val="8E91AD"/>
            </a:solidFill>
            <a:prstDash val="solid"/>
            <a:tailEnd type="triangle"/>
          </a:ln>
        </p:spPr>
      </p:sp>
      <p:sp>
        <p:nvSpPr>
          <p:cNvPr id="14" name="Propuesta a la Comisión de Tutela"/>
          <p:cNvSpPr/>
          <p:nvPr/>
        </p:nvSpPr>
        <p:spPr>
          <a:xfrm>
            <a:off x="731520" y="305409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E91AD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86384" y="305409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a la Comisión de Tutela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técnica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83080" y="3511296"/>
            <a:ext cx="0" cy="420624"/>
          </a:xfrm>
          <a:prstGeom prst="line">
            <a:avLst/>
          </a:prstGeom>
          <a:noFill/>
          <a:ln w="12700">
            <a:solidFill>
              <a:srgbClr val="8E91AD"/>
            </a:solidFill>
            <a:prstDash val="solid"/>
            <a:tailEnd type="triangle"/>
          </a:ln>
        </p:spPr>
      </p:sp>
      <p:sp>
        <p:nvSpPr>
          <p:cNvPr id="17" name="Pleno de la Comisión de Tutela"/>
          <p:cNvSpPr/>
          <p:nvPr/>
        </p:nvSpPr>
        <p:spPr>
          <a:xfrm>
            <a:off x="731520" y="393192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 w="15875">
            <a:solidFill>
              <a:srgbClr val="0A1F44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86384" y="39319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de la Comisión de Tutela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9D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· acuerdo con fecha de efectos</a:t>
            </a:r>
            <a:endParaRPr lang="en-US" sz="900" dirty="0"/>
          </a:p>
        </p:txBody>
      </p:sp>
      <p:sp>
        <p:nvSpPr>
          <p:cNvPr id="19" name="o programa de urgencia firmado"/>
          <p:cNvSpPr/>
          <p:nvPr/>
        </p:nvSpPr>
        <p:spPr>
          <a:xfrm>
            <a:off x="731520" y="457200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8E91AD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786384" y="457200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de urgencia firmado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83080" y="4882896"/>
            <a:ext cx="0" cy="384048"/>
          </a:xfrm>
          <a:prstGeom prst="line">
            <a:avLst/>
          </a:prstGeom>
          <a:noFill/>
          <a:ln w="12700">
            <a:solidFill>
              <a:srgbClr val="8E91AD"/>
            </a:solidFill>
            <a:prstDash val="sysDot"/>
          </a:ln>
        </p:spPr>
      </p:sp>
      <p:sp>
        <p:nvSpPr>
          <p:cNvPr id="22" name="Text 20"/>
          <p:cNvSpPr txBox="1"/>
          <p:nvPr/>
        </p:nvSpPr>
        <p:spPr>
          <a:xfrm>
            <a:off x="1856232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acogimiento</a:t>
            </a:r>
            <a:endParaRPr lang="en-US" sz="700" dirty="0"/>
          </a:p>
        </p:txBody>
      </p:sp>
      <p:sp>
        <p:nvSpPr>
          <p:cNvPr id="23" name="Pleno: cese o cambio de menores"/>
          <p:cNvSpPr/>
          <p:nvPr/>
        </p:nvSpPr>
        <p:spPr>
          <a:xfrm>
            <a:off x="731520" y="5266944"/>
            <a:ext cx="2103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0A1F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526694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Pleno: cese o cambio de menores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acogimiento, o entra o sale un menor</a:t>
            </a:r>
            <a:endParaRPr lang="en-US" sz="900" dirty="0"/>
          </a:p>
        </p:txBody>
      </p:sp>
      <p:sp>
        <p:nvSpPr>
          <p:cNvPr id="25" name="Infancia"/>
          <p:cNvSpPr/>
          <p:nvPr/>
        </p:nvSpPr>
        <p:spPr>
          <a:xfrm>
            <a:off x="3840480" y="3584448"/>
            <a:ext cx="7818120" cy="2679192"/>
          </a:xfrm>
          <a:prstGeom prst="roundRect">
            <a:avLst>
              <a:gd name="adj" fmla="val 3413"/>
            </a:avLst>
          </a:prstGeom>
          <a:solidFill>
            <a:srgbClr val="F4F6FE"/>
          </a:solidFill>
          <a:ln w="12700">
            <a:solidFill>
              <a:srgbClr val="C9D0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64845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2C4B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INFANCIA · AME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64845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gestión económica (Nexus) e Intervención</a:t>
            </a:r>
            <a:endParaRPr lang="en-US" sz="750" dirty="0"/>
          </a:p>
        </p:txBody>
      </p:sp>
      <p:sp>
        <p:nvSpPr>
          <p:cNvPr id="28" name="Grabación en AME"/>
          <p:cNvSpPr/>
          <p:nvPr/>
        </p:nvSpPr>
        <p:spPr>
          <a:xfrm>
            <a:off x="3310128" y="3931920"/>
            <a:ext cx="1115568" cy="566928"/>
          </a:xfrm>
          <a:prstGeom prst="roundRect">
            <a:avLst>
              <a:gd name="adj" fmla="val 9677"/>
            </a:avLst>
          </a:prstGeom>
          <a:solidFill>
            <a:srgbClr val="FFF4E6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64992" y="39319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en AME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A85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· aviso por correo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218688" y="375818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8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PERDIDO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834640" y="4096512"/>
            <a:ext cx="475488" cy="0"/>
          </a:xfrm>
          <a:prstGeom prst="line">
            <a:avLst/>
          </a:prstGeom>
          <a:noFill/>
          <a:ln w="1905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834640" y="4727448"/>
            <a:ext cx="237744" cy="0"/>
          </a:xfrm>
          <a:prstGeom prst="line">
            <a:avLst/>
          </a:prstGeom>
          <a:noFill/>
          <a:ln w="12700">
            <a:solidFill>
              <a:srgbClr val="8E91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072384" y="4370832"/>
            <a:ext cx="0" cy="356616"/>
          </a:xfrm>
          <a:prstGeom prst="line">
            <a:avLst/>
          </a:prstGeom>
          <a:noFill/>
          <a:ln w="12700">
            <a:solidFill>
              <a:srgbClr val="8E91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72384" y="4370832"/>
            <a:ext cx="237744" cy="0"/>
          </a:xfrm>
          <a:prstGeom prst="line">
            <a:avLst/>
          </a:prstGeom>
          <a:noFill/>
          <a:ln w="12700">
            <a:solidFill>
              <a:srgbClr val="8E91AD"/>
            </a:solidFill>
            <a:prstDash val="solid"/>
            <a:tailEnd type="triangle"/>
          </a:ln>
        </p:spPr>
      </p:sp>
      <p:sp>
        <p:nvSpPr>
          <p:cNvPr id="35" name="Grabación en AME"/>
          <p:cNvSpPr/>
          <p:nvPr/>
        </p:nvSpPr>
        <p:spPr>
          <a:xfrm>
            <a:off x="3310128" y="5248656"/>
            <a:ext cx="1115568" cy="566928"/>
          </a:xfrm>
          <a:prstGeom prst="roundRect">
            <a:avLst>
              <a:gd name="adj" fmla="val 9677"/>
            </a:avLst>
          </a:prstGeom>
          <a:solidFill>
            <a:srgbClr val="FFF4E6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64992" y="52486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en AME</a:t>
            </a:r>
            <a:endParaRPr lang="en-US" sz="8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A85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aviso por correo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218688" y="507492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8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PERDIDO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834640" y="5532120"/>
            <a:ext cx="475488" cy="0"/>
          </a:xfrm>
          <a:prstGeom prst="line">
            <a:avLst/>
          </a:prstGeom>
          <a:noFill/>
          <a:ln w="1905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39" name="Reconocimiento"/>
          <p:cNvSpPr/>
          <p:nvPr/>
        </p:nvSpPr>
        <p:spPr>
          <a:xfrm>
            <a:off x="4617720" y="3858768"/>
            <a:ext cx="46634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3F4FB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09160" y="38953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la prestación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36592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inicio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303520" y="4370832"/>
            <a:ext cx="56418" cy="0"/>
          </a:xfrm>
          <a:prstGeom prst="line">
            <a:avLst/>
          </a:prstGeom>
          <a:noFill/>
          <a:ln w="952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359938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87370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 de alegaciones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954298" y="4370832"/>
            <a:ext cx="56418" cy="0"/>
          </a:xfrm>
          <a:prstGeom prst="line">
            <a:avLst/>
          </a:prstGeom>
          <a:noFill/>
          <a:ln w="952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010717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38149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 resolución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605077" y="4370832"/>
            <a:ext cx="56418" cy="0"/>
          </a:xfrm>
          <a:prstGeom prst="line">
            <a:avLst/>
          </a:prstGeom>
          <a:noFill/>
          <a:ln w="952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661495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88927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Terceros (Nexus)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7255855" y="4370832"/>
            <a:ext cx="56418" cy="0"/>
          </a:xfrm>
          <a:prstGeom prst="line">
            <a:avLst/>
          </a:prstGeom>
          <a:noFill/>
          <a:ln w="952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312274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39706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contable y propuesta mensual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7906634" y="4370832"/>
            <a:ext cx="56418" cy="0"/>
          </a:xfrm>
          <a:prstGeom prst="line">
            <a:avLst/>
          </a:prstGeom>
          <a:noFill/>
          <a:ln w="952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963052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990484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8557412" y="4370832"/>
            <a:ext cx="56418" cy="0"/>
          </a:xfrm>
          <a:prstGeom prst="line">
            <a:avLst/>
          </a:prstGeom>
          <a:noFill/>
          <a:ln w="952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613831" y="4151376"/>
            <a:ext cx="594360" cy="438912"/>
          </a:xfrm>
          <a:prstGeom prst="roundRect">
            <a:avLst>
              <a:gd name="adj" fmla="val 10417"/>
            </a:avLst>
          </a:prstGeom>
          <a:solidFill>
            <a:srgbClr val="F7F8FE"/>
          </a:solidFill>
          <a:ln w="9525">
            <a:solidFill>
              <a:srgbClr val="D5DAF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641263" y="4151376"/>
            <a:ext cx="539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650" dirty="0"/>
          </a:p>
        </p:txBody>
      </p:sp>
      <p:sp>
        <p:nvSpPr>
          <p:cNvPr id="61" name="Text 59"/>
          <p:cNvSpPr txBox="1"/>
          <p:nvPr/>
        </p:nvSpPr>
        <p:spPr>
          <a:xfrm>
            <a:off x="4617720" y="472744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85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la cuenta corriente, antes de cargar terceros (día 3)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425696" y="4215384"/>
            <a:ext cx="192024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63" name="Prestación activa"/>
          <p:cNvSpPr/>
          <p:nvPr/>
        </p:nvSpPr>
        <p:spPr>
          <a:xfrm>
            <a:off x="9464040" y="3877056"/>
            <a:ext cx="2057400" cy="804672"/>
          </a:xfrm>
          <a:prstGeom prst="roundRect">
            <a:avLst>
              <a:gd name="adj" fmla="val 6818"/>
            </a:avLst>
          </a:prstGeom>
          <a:solidFill>
            <a:srgbClr val="2C4BD9"/>
          </a:solidFill>
          <a:ln w="15875">
            <a:solidFill>
              <a:srgbClr val="2C4BD9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3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9518904" y="3877056"/>
            <a:ext cx="1947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Prestación activa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pago con atrasos y nómina mensual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281160" y="4279392"/>
            <a:ext cx="18288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425696" y="5532120"/>
            <a:ext cx="192024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67" name="Modificación o extinción"/>
          <p:cNvSpPr/>
          <p:nvPr/>
        </p:nvSpPr>
        <p:spPr>
          <a:xfrm>
            <a:off x="4617720" y="5248656"/>
            <a:ext cx="2103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2C4BD9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672584" y="524865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o extinción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o sale un menor, discapacidad · cese, 18 años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492740" y="4681728"/>
            <a:ext cx="0" cy="347472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5669280" y="5029200"/>
            <a:ext cx="4823460" cy="0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69280" y="5029200"/>
            <a:ext cx="0" cy="219456"/>
          </a:xfrm>
          <a:prstGeom prst="line">
            <a:avLst/>
          </a:prstGeom>
          <a:noFill/>
          <a:ln w="12700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7315200" y="487375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edad o discapacidad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720840" y="5532120"/>
            <a:ext cx="22860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4" name="¿Pago indebido?"/>
          <p:cNvSpPr/>
          <p:nvPr/>
        </p:nvSpPr>
        <p:spPr>
          <a:xfrm>
            <a:off x="6949440" y="5230368"/>
            <a:ext cx="1463040" cy="60350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7B3FB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949440" y="52486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¿Pago indebido?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6766560" y="588873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sigue cobrando o termina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412480" y="5532120"/>
            <a:ext cx="27432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430768" y="5376672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79" name="Reintegro"/>
          <p:cNvSpPr/>
          <p:nvPr/>
        </p:nvSpPr>
        <p:spPr>
          <a:xfrm>
            <a:off x="8686800" y="5248656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7B3FB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741664" y="5248656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Reintegro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meses después: notificación y recurso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287000" y="5532120"/>
            <a:ext cx="182880" cy="0"/>
          </a:xfrm>
          <a:prstGeom prst="line">
            <a:avLst/>
          </a:prstGeom>
          <a:noFill/>
          <a:ln w="15875">
            <a:solidFill>
              <a:srgbClr val="2C4BD9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10469880" y="5422392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C4BD9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469880" y="5422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800" dirty="0"/>
          </a:p>
        </p:txBody>
      </p:sp>
      <p:sp>
        <p:nvSpPr>
          <p:cNvPr id="84" name="Fechas"/>
          <p:cNvSpPr/>
          <p:nvPr/>
        </p:nvSpPr>
        <p:spPr>
          <a:xfrm>
            <a:off x="3310128" y="1188720"/>
            <a:ext cx="83484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474720" y="125272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0A1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FECHAS QUE MEDIREMOS · DE LA PROPUESTA AL PAGO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3977640" y="1810512"/>
            <a:ext cx="1033272" cy="0"/>
          </a:xfrm>
          <a:prstGeom prst="line">
            <a:avLst/>
          </a:prstGeom>
          <a:noFill/>
          <a:ln w="31750">
            <a:solidFill>
              <a:srgbClr val="8E91A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10912" y="1810512"/>
            <a:ext cx="1033272" cy="0"/>
          </a:xfrm>
          <a:prstGeom prst="line">
            <a:avLst/>
          </a:prstGeom>
          <a:noFill/>
          <a:ln w="44450">
            <a:solidFill>
              <a:srgbClr val="D9832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44184" y="1810512"/>
            <a:ext cx="5166360" cy="0"/>
          </a:xfrm>
          <a:prstGeom prst="line">
            <a:avLst/>
          </a:prstGeom>
          <a:noFill/>
          <a:ln w="31750">
            <a:solidFill>
              <a:srgbClr val="2C4BD9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977640" y="159105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5010912" y="1591056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6044184" y="1591056"/>
            <a:ext cx="5166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Infancia · tramitación de la prestación hasta la nómina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909060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91AD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474720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a la Comisión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E9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GPME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919472" y="1719072"/>
            <a:ext cx="182880" cy="182880"/>
          </a:xfrm>
          <a:prstGeom prst="ellipse">
            <a:avLst/>
          </a:prstGeom>
          <a:solidFill>
            <a:srgbClr val="0A1F44"/>
          </a:solidFill>
          <a:ln w="22225">
            <a:solidFill>
              <a:srgbClr val="8E91A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507992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 · fecha de efectos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8E9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GPME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975604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541264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en AME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C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008876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574536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inicio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C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8042148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607808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mensual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C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9075420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641080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C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10108692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4BD9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674352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C4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11141964" y="1741932"/>
            <a:ext cx="137160" cy="1371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737A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707624" y="1929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7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07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700" dirty="0"/>
          </a:p>
        </p:txBody>
      </p:sp>
      <p:sp>
        <p:nvSpPr>
          <p:cNvPr id="108" name="A validar"/>
          <p:cNvSpPr/>
          <p:nvPr/>
        </p:nvSpPr>
        <p:spPr>
          <a:xfrm>
            <a:off x="3310128" y="2487168"/>
            <a:ext cx="8348472" cy="822960"/>
          </a:xfrm>
          <a:prstGeom prst="roundRect">
            <a:avLst>
              <a:gd name="adj" fmla="val 8889"/>
            </a:avLst>
          </a:prstGeom>
          <a:solidFill>
            <a:srgbClr val="FFF7F7"/>
          </a:solidFill>
          <a:ln w="9525">
            <a:solidFill>
              <a:srgbClr val="F0C5C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474720" y="255117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VALIDAR CON PROTECCIÓN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474720" y="2834640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4747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12" name="Text 110"/>
          <p:cNvSpPr txBox="1"/>
          <p:nvPr/>
        </p:nvSpPr>
        <p:spPr>
          <a:xfrm>
            <a:off x="3840480" y="2779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etapas y fechas registra GPME: propuesta, pleno, firma y grabación en AME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6199632" y="2834640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199632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2779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programa de urgencia pasa por el pleno o solo se firma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8924544" y="2834640"/>
            <a:ext cx="274320" cy="2743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8924544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118" name="Text 116"/>
          <p:cNvSpPr txBox="1"/>
          <p:nvPr/>
        </p:nvSpPr>
        <p:spPr>
          <a:xfrm>
            <a:off x="9290304" y="27797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y cuándo se comunica a Infancia un cese o un cambio de menores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5669280" y="6455664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Protección: resumen para validar · Prestación: revisada con el servicio (14/08) · Decreto 44/2022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punta a punta · Acogimiento familiar</dc:title>
  <dc:subject>PptxGenJS Presentation</dc:subject>
  <dc:creator>PptxGenJS</dc:creator>
  <cp:lastModifiedBy>PptxGenJS</cp:lastModifiedBy>
  <cp:revision>1</cp:revision>
  <dcterms:created xsi:type="dcterms:W3CDTF">2026-10-28T16:42:41Z</dcterms:created>
  <dcterms:modified xsi:type="dcterms:W3CDTF">2026-10-28T16:42:41Z</dcterms:modified>
</cp:coreProperties>
</file>