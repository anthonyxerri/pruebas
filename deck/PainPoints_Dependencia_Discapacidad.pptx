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10"/>
  </p:notesMasterIdLst>
  <p:handoutMasterIdLst>
    <p:handoutMasterId r:id="rId11"/>
  </p:handoutMasterIdLst>
  <p:sldIdLst>
    <p:sldId id="747" r:id="rId5"/>
    <p:sldId id="778" r:id="rId6"/>
    <p:sldId id="782" r:id="rId18"/>
    <p:sldId id="779" r:id="rId7"/>
    <p:sldId id="780" r:id="rId8"/>
    <p:sldId id="781" r:id="rId17"/>
    <p:sldId id="260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933A7141-2257-405D-AE98-A0AF81D980F4}">
          <p14:sldIdLst>
            <p14:sldId id="747"/>
            <p14:sldId id="778"/>
            <p14:sldId id="779"/>
            <p14:sldId id="780"/>
            <p14:sldId id="260"/>
          </p14:sldIdLst>
        </p14:section>
      </p14:sectionLst>
    </p:ext>
    <p:ext uri="{EFAFB233-063F-42B5-8137-9DF3F51BA10A}">
      <p15:sldGuideLst xmlns:p15="http://schemas.microsoft.com/office/powerpoint/2012/main">
        <p15:guide id="1" pos="597" userDrawn="1">
          <p15:clr>
            <a:srgbClr val="A4A3A4"/>
          </p15:clr>
        </p15:guide>
        <p15:guide id="2" orient="horz" pos="232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  <p15:guide id="4" orient="horz" pos="4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AAAF"/>
    <a:srgbClr val="E6404A"/>
    <a:srgbClr val="FDF5F6"/>
    <a:srgbClr val="F2A9AF"/>
    <a:srgbClr val="F4A8AE"/>
    <a:srgbClr val="FFFFFF"/>
    <a:srgbClr val="F0F2F5"/>
    <a:srgbClr val="E3E6EA"/>
    <a:srgbClr val="F3F4F6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5F95B0-C697-42B6-A607-CAC17E2AF1C2}" v="7" dt="2026-06-23T14:45:41.681"/>
    <p1510:client id="{A5240753-603F-4EBC-A672-1C80063B1BD3}" v="665" dt="2026-06-23T06:57:47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>
        <p:guide pos="597"/>
        <p:guide orient="horz" pos="232"/>
        <p:guide orient="horz" pos="2160"/>
        <p:guide orient="horz" pos="45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openxmlformats.org/officeDocument/2006/relationships/slide" Target="slides/slide5.xml"/><Relationship Id="rId18" Type="http://schemas.openxmlformats.org/officeDocument/2006/relationships/slide" Target="slides/slide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1D22F8-09D7-4F28-A94F-09E10FB38141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B236EE-0074-4CDB-8D8D-528E873BAFA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53225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F03091-ED32-4FCD-80E5-44FA4B59B1A2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9909BA-59A5-46DD-938B-F57DDF61C80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1720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28588" y="1339850"/>
            <a:ext cx="6426200" cy="3616325"/>
          </a:xfrm>
        </p:spPr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46A3C6-5A25-4E8A-AE8E-FB93B36EB82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2260745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va de INI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3" name="Grupo 1372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7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73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7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8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9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0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1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2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9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73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7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73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7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73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7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73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7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73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7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4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7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8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9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0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1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2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74" name="Rectángulo 1373"/>
          <p:cNvSpPr/>
          <p:nvPr userDrawn="1"/>
        </p:nvSpPr>
        <p:spPr>
          <a:xfrm>
            <a:off x="630812" y="2713159"/>
            <a:ext cx="6327064" cy="159426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71000">
                <a:srgbClr val="FFFFFF">
                  <a:alpha val="90000"/>
                </a:srgbClr>
              </a:gs>
              <a:gs pos="31000">
                <a:srgbClr val="FFFFFF">
                  <a:alpha val="54000"/>
                </a:srgbClr>
              </a:gs>
              <a:gs pos="89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rgbClr val="E6404A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116" name="Rectángulo 115"/>
          <p:cNvSpPr/>
          <p:nvPr userDrawn="1"/>
        </p:nvSpPr>
        <p:spPr>
          <a:xfrm>
            <a:off x="5452750" y="0"/>
            <a:ext cx="6739236" cy="5920409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6000">
                <a:schemeClr val="bg1">
                  <a:alpha val="87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Rectángulo 40"/>
          <p:cNvSpPr/>
          <p:nvPr userDrawn="1"/>
        </p:nvSpPr>
        <p:spPr>
          <a:xfrm>
            <a:off x="0" y="5920410"/>
            <a:ext cx="12212623" cy="937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Rectángulo redondeado 39"/>
          <p:cNvSpPr/>
          <p:nvPr userDrawn="1"/>
        </p:nvSpPr>
        <p:spPr>
          <a:xfrm>
            <a:off x="1085992" y="4619625"/>
            <a:ext cx="12111407" cy="2803730"/>
          </a:xfrm>
          <a:prstGeom prst="roundRect">
            <a:avLst>
              <a:gd name="adj" fmla="val 20604"/>
            </a:avLst>
          </a:prstGeom>
          <a:solidFill>
            <a:schemeClr val="bg1">
              <a:alpha val="88000"/>
            </a:schemeClr>
          </a:solidFill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71" name="Subtítulo 2"/>
          <p:cNvSpPr>
            <a:spLocks noGrp="1"/>
          </p:cNvSpPr>
          <p:nvPr userDrawn="1">
            <p:ph type="subTitle" idx="1"/>
          </p:nvPr>
        </p:nvSpPr>
        <p:spPr>
          <a:xfrm>
            <a:off x="2010745" y="5974823"/>
            <a:ext cx="9144000" cy="371591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70" name="Título 1"/>
          <p:cNvSpPr>
            <a:spLocks noGrp="1"/>
          </p:cNvSpPr>
          <p:nvPr userDrawn="1">
            <p:ph type="ctrTitle"/>
          </p:nvPr>
        </p:nvSpPr>
        <p:spPr>
          <a:xfrm>
            <a:off x="1418912" y="5242556"/>
            <a:ext cx="10522879" cy="381945"/>
          </a:xfrm>
        </p:spPr>
        <p:txBody>
          <a:bodyPr anchor="ctr">
            <a:noAutofit/>
          </a:bodyPr>
          <a:lstStyle>
            <a:lvl1pPr algn="ctr">
              <a:defRPr sz="24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pic>
        <p:nvPicPr>
          <p:cNvPr id="1375" name="Imagen 137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143" y="2336556"/>
            <a:ext cx="5366847" cy="13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720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a de í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9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67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3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67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3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67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3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67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3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67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3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4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67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8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9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0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1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2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3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5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0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1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0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1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7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6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8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67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chemeClr val="bg1">
                <a:lumMod val="5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6" name="CuadroTexto 5"/>
          <p:cNvSpPr txBox="1"/>
          <p:nvPr userDrawn="1"/>
        </p:nvSpPr>
        <p:spPr>
          <a:xfrm rot="16200000">
            <a:off x="-570651" y="1511451"/>
            <a:ext cx="27126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6000" b="0">
                <a:solidFill>
                  <a:srgbClr val="E6404A"/>
                </a:solidFill>
                <a:latin typeface="Century Gothic" panose="020B0502020202020204" pitchFamily="34" charset="0"/>
              </a:rPr>
              <a:t>ÍNDICE</a:t>
            </a:r>
          </a:p>
        </p:txBody>
      </p:sp>
      <p:sp>
        <p:nvSpPr>
          <p:cNvPr id="3" name="Redondear rectángulo de esquina sencilla 2"/>
          <p:cNvSpPr/>
          <p:nvPr userDrawn="1"/>
        </p:nvSpPr>
        <p:spPr>
          <a:xfrm rot="10800000" flipV="1">
            <a:off x="1203512" y="781466"/>
            <a:ext cx="10988488" cy="4503906"/>
          </a:xfrm>
          <a:prstGeom prst="round1Rect">
            <a:avLst>
              <a:gd name="adj" fmla="val 10317"/>
            </a:avLst>
          </a:prstGeom>
          <a:solidFill>
            <a:schemeClr val="bg1">
              <a:alpha val="84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contenido 2"/>
          <p:cNvSpPr>
            <a:spLocks noGrp="1"/>
          </p:cNvSpPr>
          <p:nvPr>
            <p:ph idx="1"/>
          </p:nvPr>
        </p:nvSpPr>
        <p:spPr>
          <a:xfrm>
            <a:off x="1419366" y="1175385"/>
            <a:ext cx="10563368" cy="3942525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ángulo 4"/>
          <p:cNvSpPr/>
          <p:nvPr userDrawn="1"/>
        </p:nvSpPr>
        <p:spPr>
          <a:xfrm>
            <a:off x="0" y="5216275"/>
            <a:ext cx="12192000" cy="16417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7490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499950" y="2828414"/>
            <a:ext cx="11266487" cy="1718110"/>
          </a:xfrm>
          <a:prstGeom prst="rect">
            <a:avLst/>
          </a:prstGeom>
          <a:noFill/>
          <a:ln w="101600">
            <a:gradFill>
              <a:gsLst>
                <a:gs pos="0">
                  <a:srgbClr val="CD3039"/>
                </a:gs>
                <a:gs pos="69000">
                  <a:schemeClr val="bg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 sz="3600" b="1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/>
          <p:cNvSpPr/>
          <p:nvPr userDrawn="1"/>
        </p:nvSpPr>
        <p:spPr>
          <a:xfrm>
            <a:off x="2916454" y="817556"/>
            <a:ext cx="1790299" cy="1294054"/>
          </a:xfrm>
          <a:prstGeom prst="rect">
            <a:avLst/>
          </a:prstGeom>
          <a:noFill/>
          <a:ln w="1016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ángulo 12"/>
          <p:cNvSpPr/>
          <p:nvPr userDrawn="1"/>
        </p:nvSpPr>
        <p:spPr>
          <a:xfrm>
            <a:off x="0" y="2785382"/>
            <a:ext cx="338667" cy="1814931"/>
          </a:xfrm>
          <a:prstGeom prst="rect">
            <a:avLst/>
          </a:prstGeom>
          <a:solidFill>
            <a:srgbClr val="CD30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redondeado 13"/>
          <p:cNvSpPr/>
          <p:nvPr userDrawn="1"/>
        </p:nvSpPr>
        <p:spPr>
          <a:xfrm>
            <a:off x="-245271" y="344314"/>
            <a:ext cx="4374510" cy="938126"/>
          </a:xfrm>
          <a:prstGeom prst="roundRect">
            <a:avLst>
              <a:gd name="adj" fmla="val 0"/>
            </a:avLst>
          </a:prstGeom>
          <a:noFill/>
          <a:ln w="73025">
            <a:solidFill>
              <a:srgbClr val="C00000">
                <a:alpha val="28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4823536"/>
            <a:ext cx="6278474" cy="457277"/>
          </a:xfrm>
        </p:spPr>
        <p:txBody>
          <a:bodyPr/>
          <a:lstStyle>
            <a:lvl1pPr marL="0" indent="0" algn="ctr">
              <a:buNone/>
              <a:defRPr sz="2400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67605" y="2902224"/>
            <a:ext cx="5514979" cy="1510719"/>
          </a:xfrm>
        </p:spPr>
        <p:txBody>
          <a:bodyPr anchor="ctr">
            <a:noAutofit/>
          </a:bodyPr>
          <a:lstStyle>
            <a:lvl1pPr algn="l">
              <a:defRPr sz="2800" b="1"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5" name="Grupo 4"/>
          <p:cNvGrpSpPr/>
          <p:nvPr userDrawn="1"/>
        </p:nvGrpSpPr>
        <p:grpSpPr>
          <a:xfrm>
            <a:off x="6536235" y="1703088"/>
            <a:ext cx="5456807" cy="3898595"/>
            <a:chOff x="6536235" y="1703088"/>
            <a:chExt cx="5456807" cy="3898595"/>
          </a:xfrm>
        </p:grpSpPr>
        <p:grpSp>
          <p:nvGrpSpPr>
            <p:cNvPr id="8" name="Grupo 7"/>
            <p:cNvGrpSpPr/>
            <p:nvPr userDrawn="1"/>
          </p:nvGrpSpPr>
          <p:grpSpPr>
            <a:xfrm>
              <a:off x="8150862" y="2991855"/>
              <a:ext cx="1336707" cy="1350778"/>
              <a:chOff x="776775" y="835852"/>
              <a:chExt cx="902988" cy="912493"/>
            </a:xfrm>
            <a:effectLst>
              <a:glow rad="190500">
                <a:schemeClr val="bg1"/>
              </a:glow>
            </a:effectLst>
          </p:grpSpPr>
          <p:grpSp>
            <p:nvGrpSpPr>
              <p:cNvPr id="9" name="Grupo 8"/>
              <p:cNvGrpSpPr/>
              <p:nvPr/>
            </p:nvGrpSpPr>
            <p:grpSpPr>
              <a:xfrm>
                <a:off x="776775" y="835852"/>
                <a:ext cx="902988" cy="912493"/>
                <a:chOff x="776775" y="835852"/>
                <a:chExt cx="902988" cy="912493"/>
              </a:xfrm>
            </p:grpSpPr>
            <p:sp>
              <p:nvSpPr>
                <p:cNvPr id="22" name="Oval 75"/>
                <p:cNvSpPr>
                  <a:spLocks noChangeArrowheads="1"/>
                </p:cNvSpPr>
                <p:nvPr/>
              </p:nvSpPr>
              <p:spPr bwMode="auto">
                <a:xfrm>
                  <a:off x="865490" y="927736"/>
                  <a:ext cx="722390" cy="735064"/>
                </a:xfrm>
                <a:prstGeom prst="ellipse">
                  <a:avLst/>
                </a:pr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3" name="Freeform 76"/>
                <p:cNvSpPr>
                  <a:spLocks noEditPoints="1"/>
                </p:cNvSpPr>
                <p:nvPr/>
              </p:nvSpPr>
              <p:spPr bwMode="auto">
                <a:xfrm>
                  <a:off x="776775" y="842189"/>
                  <a:ext cx="896652" cy="906156"/>
                </a:xfrm>
                <a:custGeom>
                  <a:avLst/>
                  <a:gdLst>
                    <a:gd name="T0" fmla="*/ 70 w 150"/>
                    <a:gd name="T1" fmla="*/ 4 h 150"/>
                    <a:gd name="T2" fmla="*/ 4 w 150"/>
                    <a:gd name="T3" fmla="*/ 75 h 150"/>
                    <a:gd name="T4" fmla="*/ 75 w 150"/>
                    <a:gd name="T5" fmla="*/ 146 h 150"/>
                    <a:gd name="T6" fmla="*/ 146 w 150"/>
                    <a:gd name="T7" fmla="*/ 78 h 150"/>
                    <a:gd name="T8" fmla="*/ 150 w 150"/>
                    <a:gd name="T9" fmla="*/ 78 h 150"/>
                    <a:gd name="T10" fmla="*/ 75 w 150"/>
                    <a:gd name="T11" fmla="*/ 150 h 150"/>
                    <a:gd name="T12" fmla="*/ 0 w 150"/>
                    <a:gd name="T13" fmla="*/ 75 h 150"/>
                    <a:gd name="T14" fmla="*/ 70 w 150"/>
                    <a:gd name="T15" fmla="*/ 0 h 150"/>
                    <a:gd name="T16" fmla="*/ 70 w 150"/>
                    <a:gd name="T17" fmla="*/ 4 h 150"/>
                    <a:gd name="T18" fmla="*/ 146 w 150"/>
                    <a:gd name="T19" fmla="*/ 75 h 150"/>
                    <a:gd name="T20" fmla="*/ 150 w 150"/>
                    <a:gd name="T21" fmla="*/ 75 h 150"/>
                    <a:gd name="T22" fmla="*/ 150 w 150"/>
                    <a:gd name="T23" fmla="*/ 75 h 150"/>
                    <a:gd name="T24" fmla="*/ 75 w 150"/>
                    <a:gd name="T25" fmla="*/ 0 h 150"/>
                    <a:gd name="T26" fmla="*/ 75 w 150"/>
                    <a:gd name="T27" fmla="*/ 4 h 150"/>
                    <a:gd name="T28" fmla="*/ 146 w 150"/>
                    <a:gd name="T29" fmla="*/ 75 h 1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150" h="150">
                      <a:moveTo>
                        <a:pt x="70" y="4"/>
                      </a:moveTo>
                      <a:cubicBezTo>
                        <a:pt x="34" y="7"/>
                        <a:pt x="4" y="38"/>
                        <a:pt x="4" y="75"/>
                      </a:cubicBezTo>
                      <a:cubicBezTo>
                        <a:pt x="4" y="114"/>
                        <a:pt x="36" y="146"/>
                        <a:pt x="75" y="146"/>
                      </a:cubicBezTo>
                      <a:cubicBezTo>
                        <a:pt x="113" y="146"/>
                        <a:pt x="144" y="116"/>
                        <a:pt x="146" y="78"/>
                      </a:cubicBezTo>
                      <a:cubicBezTo>
                        <a:pt x="150" y="78"/>
                        <a:pt x="150" y="78"/>
                        <a:pt x="150" y="78"/>
                      </a:cubicBezTo>
                      <a:cubicBezTo>
                        <a:pt x="149" y="118"/>
                        <a:pt x="116" y="150"/>
                        <a:pt x="75" y="150"/>
                      </a:cubicBezTo>
                      <a:cubicBezTo>
                        <a:pt x="34" y="150"/>
                        <a:pt x="0" y="116"/>
                        <a:pt x="0" y="75"/>
                      </a:cubicBezTo>
                      <a:cubicBezTo>
                        <a:pt x="0" y="35"/>
                        <a:pt x="31" y="2"/>
                        <a:pt x="70" y="0"/>
                      </a:cubicBezTo>
                      <a:cubicBezTo>
                        <a:pt x="70" y="4"/>
                        <a:pt x="70" y="4"/>
                        <a:pt x="70" y="4"/>
                      </a:cubicBezTo>
                      <a:close/>
                      <a:moveTo>
                        <a:pt x="146" y="75"/>
                      </a:move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33"/>
                        <a:pt x="117" y="0"/>
                        <a:pt x="75" y="0"/>
                      </a:cubicBezTo>
                      <a:cubicBezTo>
                        <a:pt x="75" y="4"/>
                        <a:pt x="75" y="4"/>
                        <a:pt x="75" y="4"/>
                      </a:cubicBezTo>
                      <a:cubicBezTo>
                        <a:pt x="114" y="4"/>
                        <a:pt x="146" y="36"/>
                        <a:pt x="146" y="75"/>
                      </a:cubicBezTo>
                      <a:close/>
                    </a:path>
                  </a:pathLst>
                </a:custGeom>
                <a:solidFill>
                  <a:srgbClr val="8FA0A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4" name="Freeform 77"/>
                <p:cNvSpPr>
                  <a:spLocks/>
                </p:cNvSpPr>
                <p:nvPr/>
              </p:nvSpPr>
              <p:spPr bwMode="auto">
                <a:xfrm>
                  <a:off x="1223517" y="835852"/>
                  <a:ext cx="456246" cy="459416"/>
                </a:xfrm>
                <a:custGeom>
                  <a:avLst/>
                  <a:gdLst>
                    <a:gd name="T0" fmla="*/ 76 w 76"/>
                    <a:gd name="T1" fmla="*/ 76 h 76"/>
                    <a:gd name="T2" fmla="*/ 70 w 76"/>
                    <a:gd name="T3" fmla="*/ 76 h 76"/>
                    <a:gd name="T4" fmla="*/ 0 w 76"/>
                    <a:gd name="T5" fmla="*/ 6 h 76"/>
                    <a:gd name="T6" fmla="*/ 0 w 76"/>
                    <a:gd name="T7" fmla="*/ 0 h 76"/>
                    <a:gd name="T8" fmla="*/ 76 w 76"/>
                    <a:gd name="T9" fmla="*/ 76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6" h="76">
                      <a:moveTo>
                        <a:pt x="76" y="76"/>
                      </a:moveTo>
                      <a:cubicBezTo>
                        <a:pt x="70" y="76"/>
                        <a:pt x="70" y="76"/>
                        <a:pt x="70" y="76"/>
                      </a:cubicBezTo>
                      <a:cubicBezTo>
                        <a:pt x="70" y="37"/>
                        <a:pt x="39" y="6"/>
                        <a:pt x="0" y="6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42" y="0"/>
                        <a:pt x="76" y="34"/>
                        <a:pt x="76" y="76"/>
                      </a:cubicBezTo>
                      <a:close/>
                    </a:path>
                  </a:pathLst>
                </a:cu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</p:grpSp>
          <p:grpSp>
            <p:nvGrpSpPr>
              <p:cNvPr id="12" name="Grupo 11"/>
              <p:cNvGrpSpPr/>
              <p:nvPr/>
            </p:nvGrpSpPr>
            <p:grpSpPr>
              <a:xfrm>
                <a:off x="944265" y="1182578"/>
                <a:ext cx="563739" cy="225597"/>
                <a:chOff x="944265" y="1182578"/>
                <a:chExt cx="563739" cy="225597"/>
              </a:xfrm>
            </p:grpSpPr>
            <p:sp>
              <p:nvSpPr>
                <p:cNvPr id="15" name="Estrella de 5 puntas 14"/>
                <p:cNvSpPr/>
                <p:nvPr/>
              </p:nvSpPr>
              <p:spPr>
                <a:xfrm>
                  <a:off x="944265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6" name="Estrella de 5 puntas 15"/>
                <p:cNvSpPr/>
                <p:nvPr/>
              </p:nvSpPr>
              <p:spPr>
                <a:xfrm>
                  <a:off x="1090316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7" name="Estrella de 5 puntas 16"/>
                <p:cNvSpPr/>
                <p:nvPr/>
              </p:nvSpPr>
              <p:spPr>
                <a:xfrm>
                  <a:off x="1018083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8" name="Estrella de 5 puntas 17"/>
                <p:cNvSpPr/>
                <p:nvPr/>
              </p:nvSpPr>
              <p:spPr>
                <a:xfrm>
                  <a:off x="1164531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strella de 5 puntas 18"/>
                <p:cNvSpPr/>
                <p:nvPr/>
              </p:nvSpPr>
              <p:spPr>
                <a:xfrm>
                  <a:off x="1310979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Estrella de 5 puntas 19"/>
                <p:cNvSpPr/>
                <p:nvPr/>
              </p:nvSpPr>
              <p:spPr>
                <a:xfrm>
                  <a:off x="1236367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Estrella de 5 puntas 20"/>
                <p:cNvSpPr/>
                <p:nvPr/>
              </p:nvSpPr>
              <p:spPr>
                <a:xfrm>
                  <a:off x="1382419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</p:grpSp>
        <p:sp>
          <p:nvSpPr>
            <p:cNvPr id="26" name="Trapecio 1"/>
            <p:cNvSpPr/>
            <p:nvPr/>
          </p:nvSpPr>
          <p:spPr>
            <a:xfrm>
              <a:off x="8583751" y="460707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7" name="Trapecio 1"/>
            <p:cNvSpPr/>
            <p:nvPr/>
          </p:nvSpPr>
          <p:spPr>
            <a:xfrm rot="20431647">
              <a:off x="9070984" y="452258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8" name="Trapecio 1"/>
            <p:cNvSpPr/>
            <p:nvPr/>
          </p:nvSpPr>
          <p:spPr>
            <a:xfrm rot="19323297">
              <a:off x="9509230" y="429296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9" name="Trapecio 1"/>
            <p:cNvSpPr/>
            <p:nvPr/>
          </p:nvSpPr>
          <p:spPr>
            <a:xfrm rot="18063655">
              <a:off x="9829228" y="3907400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0" name="Trapecio 1"/>
            <p:cNvSpPr/>
            <p:nvPr/>
          </p:nvSpPr>
          <p:spPr>
            <a:xfrm rot="14328352">
              <a:off x="9815603" y="2400822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1" name="Trapecio 1"/>
            <p:cNvSpPr/>
            <p:nvPr/>
          </p:nvSpPr>
          <p:spPr>
            <a:xfrm rot="13163390">
              <a:off x="9493837" y="203750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2" name="Trapecio 1"/>
            <p:cNvSpPr/>
            <p:nvPr/>
          </p:nvSpPr>
          <p:spPr>
            <a:xfrm rot="11956148">
              <a:off x="9067506" y="178985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3" name="Trapecio 1"/>
            <p:cNvSpPr/>
            <p:nvPr/>
          </p:nvSpPr>
          <p:spPr>
            <a:xfrm rot="10800000">
              <a:off x="8583751" y="170308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4" name="Trapecio 1"/>
            <p:cNvSpPr/>
            <p:nvPr/>
          </p:nvSpPr>
          <p:spPr>
            <a:xfrm rot="9576918">
              <a:off x="8095978" y="17965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5" name="Trapecio 1"/>
            <p:cNvSpPr/>
            <p:nvPr/>
          </p:nvSpPr>
          <p:spPr>
            <a:xfrm rot="8372291">
              <a:off x="7681520" y="206404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6" name="Trapecio 1"/>
            <p:cNvSpPr/>
            <p:nvPr/>
          </p:nvSpPr>
          <p:spPr>
            <a:xfrm rot="7199189">
              <a:off x="7369241" y="244652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7" name="Trapecio 1"/>
            <p:cNvSpPr/>
            <p:nvPr/>
          </p:nvSpPr>
          <p:spPr>
            <a:xfrm rot="6041318">
              <a:off x="7202608" y="290310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8" name="Trapecio 1"/>
            <p:cNvSpPr/>
            <p:nvPr/>
          </p:nvSpPr>
          <p:spPr>
            <a:xfrm rot="4824027">
              <a:off x="7214348" y="34011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9" name="Trapecio 1"/>
            <p:cNvSpPr/>
            <p:nvPr/>
          </p:nvSpPr>
          <p:spPr>
            <a:xfrm rot="3652284">
              <a:off x="7374687" y="387182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0" name="Trapecio 1"/>
            <p:cNvSpPr/>
            <p:nvPr/>
          </p:nvSpPr>
          <p:spPr>
            <a:xfrm rot="2391762">
              <a:off x="7681520" y="426051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1" name="Trapecio 1"/>
            <p:cNvSpPr/>
            <p:nvPr/>
          </p:nvSpPr>
          <p:spPr>
            <a:xfrm rot="1224926">
              <a:off x="8115752" y="4513093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2" name="Elipse 41"/>
            <p:cNvSpPr/>
            <p:nvPr/>
          </p:nvSpPr>
          <p:spPr>
            <a:xfrm>
              <a:off x="7865457" y="2709807"/>
              <a:ext cx="1885131" cy="1885131"/>
            </a:xfrm>
            <a:prstGeom prst="ellipse">
              <a:avLst/>
            </a:prstGeom>
            <a:noFill/>
            <a:ln w="508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3" name="Triángulo isósceles 3"/>
            <p:cNvSpPr/>
            <p:nvPr/>
          </p:nvSpPr>
          <p:spPr>
            <a:xfrm rot="5400000">
              <a:off x="6985018" y="3163693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4" name="Triángulo isósceles 3"/>
            <p:cNvSpPr/>
            <p:nvPr/>
          </p:nvSpPr>
          <p:spPr>
            <a:xfrm rot="5400000">
              <a:off x="6556902" y="3572450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5" name="Grupo 44"/>
            <p:cNvGrpSpPr/>
            <p:nvPr/>
          </p:nvGrpSpPr>
          <p:grpSpPr>
            <a:xfrm>
              <a:off x="6570991" y="3947534"/>
              <a:ext cx="176674" cy="1003824"/>
              <a:chOff x="6570991" y="3815182"/>
              <a:chExt cx="176674" cy="1003824"/>
            </a:xfrm>
          </p:grpSpPr>
          <p:cxnSp>
            <p:nvCxnSpPr>
              <p:cNvPr id="138" name="Conector recto 137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Conector recto 138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Conector recto 139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ector recto 140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ector recto 141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ector recto 142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ector recto 143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ector recto 144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Conector recto 145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Conector recto 146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ector recto 147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recto 148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recto 149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upo 45"/>
            <p:cNvGrpSpPr/>
            <p:nvPr/>
          </p:nvGrpSpPr>
          <p:grpSpPr>
            <a:xfrm>
              <a:off x="6573120" y="2501919"/>
              <a:ext cx="176674" cy="1003824"/>
              <a:chOff x="6570991" y="3815182"/>
              <a:chExt cx="176674" cy="1003824"/>
            </a:xfrm>
          </p:grpSpPr>
          <p:cxnSp>
            <p:nvCxnSpPr>
              <p:cNvPr id="125" name="Conector recto 124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Conector recto 125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Conector recto 126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Conector recto 127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Conector recto 128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Conector recto 129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ector recto 130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Conector recto 131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Conector recto 132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Conector recto 133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ector recto 134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Conector recto 135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ector recto 136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" name="Grupo 46"/>
            <p:cNvGrpSpPr/>
            <p:nvPr/>
          </p:nvGrpSpPr>
          <p:grpSpPr>
            <a:xfrm>
              <a:off x="7204014" y="2619601"/>
              <a:ext cx="193037" cy="1987473"/>
              <a:chOff x="7204014" y="2487249"/>
              <a:chExt cx="193037" cy="1987473"/>
            </a:xfrm>
          </p:grpSpPr>
          <p:cxnSp>
            <p:nvCxnSpPr>
              <p:cNvPr id="114" name="Conector recto 113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ector recto 114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Conector recto 115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Conector recto 116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ector recto 117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ector recto 118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Conector recto 119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Conector recto 120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Conector recto 121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Conector recto 122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ector recto 123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Grupo 47"/>
            <p:cNvGrpSpPr/>
            <p:nvPr/>
          </p:nvGrpSpPr>
          <p:grpSpPr>
            <a:xfrm rot="5400000">
              <a:off x="8689544" y="1476634"/>
              <a:ext cx="193037" cy="1987473"/>
              <a:chOff x="7204014" y="2487249"/>
              <a:chExt cx="193037" cy="1987473"/>
            </a:xfrm>
          </p:grpSpPr>
          <p:cxnSp>
            <p:nvCxnSpPr>
              <p:cNvPr id="103" name="Conector recto 102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Conector recto 103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Conector recto 104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Conector recto 105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Conector recto 106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Conector recto 107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Conector recto 108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Conector recto 109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Conector recto 110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ector recto 111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ector recto 112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Triángulo isósceles 3"/>
            <p:cNvSpPr/>
            <p:nvPr/>
          </p:nvSpPr>
          <p:spPr>
            <a:xfrm rot="10800000">
              <a:off x="8708196" y="2240176"/>
              <a:ext cx="179849" cy="210073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50" name="Grupo 49"/>
            <p:cNvGrpSpPr/>
            <p:nvPr/>
          </p:nvGrpSpPr>
          <p:grpSpPr>
            <a:xfrm rot="5400000">
              <a:off x="10970970" y="2876518"/>
              <a:ext cx="176674" cy="1003824"/>
              <a:chOff x="6570991" y="3815182"/>
              <a:chExt cx="176674" cy="1003824"/>
            </a:xfrm>
          </p:grpSpPr>
          <p:cxnSp>
            <p:nvCxnSpPr>
              <p:cNvPr id="90" name="Conector recto 89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Conector recto 90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ector recto 91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onector recto 92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Conector recto 93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Conector recto 94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Conector recto 95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cto 96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recto 97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Conector recto 98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Conector recto 99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Conector recto 100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ector recto 101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Grupo 50"/>
            <p:cNvGrpSpPr/>
            <p:nvPr/>
          </p:nvGrpSpPr>
          <p:grpSpPr>
            <a:xfrm>
              <a:off x="9563660" y="3552335"/>
              <a:ext cx="2318203" cy="176674"/>
              <a:chOff x="9563660" y="3419983"/>
              <a:chExt cx="2318203" cy="176674"/>
            </a:xfrm>
          </p:grpSpPr>
          <p:cxnSp>
            <p:nvCxnSpPr>
              <p:cNvPr id="74" name="Conector recto 73"/>
              <p:cNvCxnSpPr/>
              <p:nvPr/>
            </p:nvCxnSpPr>
            <p:spPr>
              <a:xfrm flipH="1">
                <a:off x="9563660" y="3509666"/>
                <a:ext cx="2318203" cy="0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cto 74"/>
              <p:cNvCxnSpPr/>
              <p:nvPr/>
            </p:nvCxnSpPr>
            <p:spPr>
              <a:xfrm rot="5400000" flipH="1">
                <a:off x="114367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recto 75"/>
              <p:cNvCxnSpPr/>
              <p:nvPr/>
            </p:nvCxnSpPr>
            <p:spPr>
              <a:xfrm rot="5400000" flipH="1">
                <a:off x="1126932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cto 76"/>
              <p:cNvCxnSpPr/>
              <p:nvPr/>
            </p:nvCxnSpPr>
            <p:spPr>
              <a:xfrm rot="5400000" flipH="1">
                <a:off x="109423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77"/>
              <p:cNvCxnSpPr/>
              <p:nvPr/>
            </p:nvCxnSpPr>
            <p:spPr>
              <a:xfrm rot="5400000" flipH="1">
                <a:off x="1077494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recto 78"/>
              <p:cNvCxnSpPr/>
              <p:nvPr/>
            </p:nvCxnSpPr>
            <p:spPr>
              <a:xfrm rot="5400000" flipH="1">
                <a:off x="1061813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recto 79"/>
              <p:cNvCxnSpPr/>
              <p:nvPr/>
            </p:nvCxnSpPr>
            <p:spPr>
              <a:xfrm rot="5400000" flipH="1">
                <a:off x="101193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ector recto 80"/>
              <p:cNvCxnSpPr/>
              <p:nvPr/>
            </p:nvCxnSpPr>
            <p:spPr>
              <a:xfrm rot="5400000" flipH="1">
                <a:off x="9957237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onector recto 81"/>
              <p:cNvCxnSpPr/>
              <p:nvPr/>
            </p:nvCxnSpPr>
            <p:spPr>
              <a:xfrm rot="5400000" flipH="1">
                <a:off x="980042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 recto 82"/>
              <p:cNvCxnSpPr/>
              <p:nvPr/>
            </p:nvCxnSpPr>
            <p:spPr>
              <a:xfrm rot="5400000" flipH="1">
                <a:off x="961703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Conector recto 83"/>
              <p:cNvCxnSpPr/>
              <p:nvPr/>
            </p:nvCxnSpPr>
            <p:spPr>
              <a:xfrm rot="5400000" flipH="1">
                <a:off x="94814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ector recto 84"/>
              <p:cNvCxnSpPr/>
              <p:nvPr/>
            </p:nvCxnSpPr>
            <p:spPr>
              <a:xfrm rot="5400000" flipH="1">
                <a:off x="1029303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ector recto 85"/>
              <p:cNvCxnSpPr/>
              <p:nvPr/>
            </p:nvCxnSpPr>
            <p:spPr>
              <a:xfrm rot="5400000" flipH="1">
                <a:off x="1110110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ector recto 86"/>
              <p:cNvCxnSpPr/>
              <p:nvPr/>
            </p:nvCxnSpPr>
            <p:spPr>
              <a:xfrm rot="5400000" flipH="1">
                <a:off x="11594482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ector recto 87"/>
              <p:cNvCxnSpPr/>
              <p:nvPr/>
            </p:nvCxnSpPr>
            <p:spPr>
              <a:xfrm rot="5400000" flipH="1">
                <a:off x="11782533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upo 51"/>
            <p:cNvGrpSpPr/>
            <p:nvPr/>
          </p:nvGrpSpPr>
          <p:grpSpPr>
            <a:xfrm rot="5400000">
              <a:off x="11598285" y="3526381"/>
              <a:ext cx="118159" cy="671354"/>
              <a:chOff x="6570991" y="3815182"/>
              <a:chExt cx="176674" cy="1003824"/>
            </a:xfrm>
          </p:grpSpPr>
          <p:cxnSp>
            <p:nvCxnSpPr>
              <p:cNvPr id="61" name="Conector recto 60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Conector recto 61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cto 62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Conector recto 63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cto 64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Conector recto 65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cto 66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Conector recto 67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ector recto 68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69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ector recto 70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recto 71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cto 72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Grupo 52"/>
            <p:cNvGrpSpPr/>
            <p:nvPr/>
          </p:nvGrpSpPr>
          <p:grpSpPr>
            <a:xfrm>
              <a:off x="9892127" y="2217843"/>
              <a:ext cx="231588" cy="1287157"/>
              <a:chOff x="9892127" y="2085491"/>
              <a:chExt cx="231588" cy="1287157"/>
            </a:xfrm>
          </p:grpSpPr>
          <p:cxnSp>
            <p:nvCxnSpPr>
              <p:cNvPr id="58" name="Conector recto 57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Conector recto 58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Conector recto 59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" name="Grupo 53"/>
            <p:cNvGrpSpPr/>
            <p:nvPr/>
          </p:nvGrpSpPr>
          <p:grpSpPr>
            <a:xfrm flipH="1">
              <a:off x="9874935" y="3763671"/>
              <a:ext cx="230400" cy="1287157"/>
              <a:chOff x="9892127" y="2085491"/>
              <a:chExt cx="231588" cy="1287157"/>
            </a:xfrm>
          </p:grpSpPr>
          <p:cxnSp>
            <p:nvCxnSpPr>
              <p:cNvPr id="55" name="Conector recto 54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ector recto 55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cto 56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76671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redondeado 14"/>
          <p:cNvSpPr/>
          <p:nvPr userDrawn="1"/>
        </p:nvSpPr>
        <p:spPr>
          <a:xfrm>
            <a:off x="251651" y="266701"/>
            <a:ext cx="9787700" cy="5763456"/>
          </a:xfrm>
          <a:prstGeom prst="roundRect">
            <a:avLst>
              <a:gd name="adj" fmla="val 2485"/>
            </a:avLst>
          </a:prstGeom>
          <a:gradFill>
            <a:gsLst>
              <a:gs pos="0">
                <a:srgbClr val="E63F4A">
                  <a:alpha val="50000"/>
                </a:srgbClr>
              </a:gs>
              <a:gs pos="100000">
                <a:srgbClr val="E83F4B">
                  <a:alpha val="43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9" name="Rectángulo redondeado 8"/>
          <p:cNvSpPr/>
          <p:nvPr userDrawn="1"/>
        </p:nvSpPr>
        <p:spPr>
          <a:xfrm>
            <a:off x="237928" y="782042"/>
            <a:ext cx="11713946" cy="5868287"/>
          </a:xfrm>
          <a:prstGeom prst="roundRect">
            <a:avLst>
              <a:gd name="adj" fmla="val 1998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18900000" algn="bl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2" name="Rectángulo 1"/>
          <p:cNvSpPr/>
          <p:nvPr userDrawn="1"/>
        </p:nvSpPr>
        <p:spPr>
          <a:xfrm>
            <a:off x="0" y="4671060"/>
            <a:ext cx="12192000" cy="21869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68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487901"/>
            <a:ext cx="1030705" cy="365125"/>
          </a:xfrm>
        </p:spPr>
        <p:txBody>
          <a:bodyPr/>
          <a:lstStyle>
            <a:lvl1pPr>
              <a:defRPr sz="1000" b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20" name="Título 1"/>
          <p:cNvSpPr>
            <a:spLocks noGrp="1"/>
          </p:cNvSpPr>
          <p:nvPr>
            <p:ph type="ctrTitle"/>
          </p:nvPr>
        </p:nvSpPr>
        <p:spPr>
          <a:xfrm>
            <a:off x="518160" y="360664"/>
            <a:ext cx="9253637" cy="381945"/>
          </a:xfrm>
        </p:spPr>
        <p:txBody>
          <a:bodyPr anchor="ctr">
            <a:normAutofit/>
          </a:bodyPr>
          <a:lstStyle>
            <a:lvl1pPr algn="l">
              <a:defRPr sz="20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11" name="Subtítulo 2"/>
          <p:cNvSpPr>
            <a:spLocks noGrp="1"/>
          </p:cNvSpPr>
          <p:nvPr>
            <p:ph type="subTitle" idx="14"/>
          </p:nvPr>
        </p:nvSpPr>
        <p:spPr>
          <a:xfrm>
            <a:off x="518160" y="786262"/>
            <a:ext cx="11164324" cy="349690"/>
          </a:xfrm>
        </p:spPr>
        <p:txBody>
          <a:bodyPr>
            <a:noAutofit/>
          </a:bodyPr>
          <a:lstStyle>
            <a:lvl1pPr marL="0" indent="0" algn="l">
              <a:buNone/>
              <a:defRPr sz="1400" b="1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12" name="Marcador de contenido 2"/>
          <p:cNvSpPr>
            <a:spLocks noGrp="1"/>
          </p:cNvSpPr>
          <p:nvPr>
            <p:ph idx="1"/>
          </p:nvPr>
        </p:nvSpPr>
        <p:spPr>
          <a:xfrm>
            <a:off x="518160" y="1175385"/>
            <a:ext cx="11164324" cy="5317490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258841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6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556269"/>
            <a:ext cx="1030705" cy="365125"/>
          </a:xfrm>
        </p:spPr>
        <p:txBody>
          <a:bodyPr/>
          <a:lstStyle>
            <a:lvl1pPr>
              <a:defRPr sz="1000" b="1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165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redondeado 1"/>
          <p:cNvSpPr/>
          <p:nvPr userDrawn="1"/>
        </p:nvSpPr>
        <p:spPr>
          <a:xfrm>
            <a:off x="628646" y="2217844"/>
            <a:ext cx="11563354" cy="2970756"/>
          </a:xfrm>
          <a:prstGeom prst="roundRect">
            <a:avLst>
              <a:gd name="adj" fmla="val 0"/>
            </a:avLst>
          </a:prstGeom>
          <a:solidFill>
            <a:schemeClr val="bg1">
              <a:alpha val="21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/>
          <p:cNvSpPr/>
          <p:nvPr userDrawn="1"/>
        </p:nvSpPr>
        <p:spPr>
          <a:xfrm>
            <a:off x="6570991" y="1360425"/>
            <a:ext cx="4505824" cy="450582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Rectángulo 11"/>
          <p:cNvSpPr/>
          <p:nvPr userDrawn="1"/>
        </p:nvSpPr>
        <p:spPr>
          <a:xfrm>
            <a:off x="-1494" y="2240176"/>
            <a:ext cx="340161" cy="2948424"/>
          </a:xfrm>
          <a:prstGeom prst="rect">
            <a:avLst/>
          </a:prstGeom>
          <a:solidFill>
            <a:srgbClr val="E83F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Título 1"/>
          <p:cNvSpPr>
            <a:spLocks noGrp="1"/>
          </p:cNvSpPr>
          <p:nvPr>
            <p:ph type="ctrTitle"/>
          </p:nvPr>
        </p:nvSpPr>
        <p:spPr>
          <a:xfrm>
            <a:off x="1040413" y="3512945"/>
            <a:ext cx="4818355" cy="580065"/>
          </a:xfrm>
          <a:noFill/>
        </p:spPr>
        <p:txBody>
          <a:bodyPr bIns="0" anchor="ctr">
            <a:noAutofit/>
          </a:bodyPr>
          <a:lstStyle>
            <a:lvl1pPr algn="l">
              <a:defRPr sz="28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30" name="Grupo 29"/>
          <p:cNvGrpSpPr/>
          <p:nvPr userDrawn="1"/>
        </p:nvGrpSpPr>
        <p:grpSpPr>
          <a:xfrm>
            <a:off x="8150862" y="2991855"/>
            <a:ext cx="1336707" cy="1350778"/>
            <a:chOff x="776775" y="835852"/>
            <a:chExt cx="902988" cy="912493"/>
          </a:xfrm>
          <a:effectLst>
            <a:glow rad="190500">
              <a:schemeClr val="bg1"/>
            </a:glow>
          </a:effectLst>
        </p:grpSpPr>
        <p:grpSp>
          <p:nvGrpSpPr>
            <p:cNvPr id="31" name="Grupo 30"/>
            <p:cNvGrpSpPr/>
            <p:nvPr/>
          </p:nvGrpSpPr>
          <p:grpSpPr>
            <a:xfrm>
              <a:off x="776775" y="835852"/>
              <a:ext cx="902988" cy="912493"/>
              <a:chOff x="776775" y="835852"/>
              <a:chExt cx="902988" cy="912493"/>
            </a:xfrm>
          </p:grpSpPr>
          <p:sp>
            <p:nvSpPr>
              <p:cNvPr id="40" name="Oval 75"/>
              <p:cNvSpPr>
                <a:spLocks noChangeArrowheads="1"/>
              </p:cNvSpPr>
              <p:nvPr/>
            </p:nvSpPr>
            <p:spPr bwMode="auto">
              <a:xfrm>
                <a:off x="865490" y="927736"/>
                <a:ext cx="722390" cy="735064"/>
              </a:xfrm>
              <a:prstGeom prst="ellipse">
                <a:avLst/>
              </a:pr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" name="Freeform 76"/>
              <p:cNvSpPr>
                <a:spLocks noEditPoints="1"/>
              </p:cNvSpPr>
              <p:nvPr/>
            </p:nvSpPr>
            <p:spPr bwMode="auto">
              <a:xfrm>
                <a:off x="776775" y="842189"/>
                <a:ext cx="896652" cy="906156"/>
              </a:xfrm>
              <a:custGeom>
                <a:avLst/>
                <a:gdLst>
                  <a:gd name="T0" fmla="*/ 70 w 150"/>
                  <a:gd name="T1" fmla="*/ 4 h 150"/>
                  <a:gd name="T2" fmla="*/ 4 w 150"/>
                  <a:gd name="T3" fmla="*/ 75 h 150"/>
                  <a:gd name="T4" fmla="*/ 75 w 150"/>
                  <a:gd name="T5" fmla="*/ 146 h 150"/>
                  <a:gd name="T6" fmla="*/ 146 w 150"/>
                  <a:gd name="T7" fmla="*/ 78 h 150"/>
                  <a:gd name="T8" fmla="*/ 150 w 150"/>
                  <a:gd name="T9" fmla="*/ 78 h 150"/>
                  <a:gd name="T10" fmla="*/ 75 w 150"/>
                  <a:gd name="T11" fmla="*/ 150 h 150"/>
                  <a:gd name="T12" fmla="*/ 0 w 150"/>
                  <a:gd name="T13" fmla="*/ 75 h 150"/>
                  <a:gd name="T14" fmla="*/ 70 w 150"/>
                  <a:gd name="T15" fmla="*/ 0 h 150"/>
                  <a:gd name="T16" fmla="*/ 70 w 150"/>
                  <a:gd name="T17" fmla="*/ 4 h 150"/>
                  <a:gd name="T18" fmla="*/ 146 w 150"/>
                  <a:gd name="T19" fmla="*/ 75 h 150"/>
                  <a:gd name="T20" fmla="*/ 150 w 150"/>
                  <a:gd name="T21" fmla="*/ 75 h 150"/>
                  <a:gd name="T22" fmla="*/ 150 w 150"/>
                  <a:gd name="T23" fmla="*/ 75 h 150"/>
                  <a:gd name="T24" fmla="*/ 75 w 150"/>
                  <a:gd name="T25" fmla="*/ 0 h 150"/>
                  <a:gd name="T26" fmla="*/ 75 w 150"/>
                  <a:gd name="T27" fmla="*/ 4 h 150"/>
                  <a:gd name="T28" fmla="*/ 146 w 150"/>
                  <a:gd name="T29" fmla="*/ 75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50" h="150">
                    <a:moveTo>
                      <a:pt x="70" y="4"/>
                    </a:moveTo>
                    <a:cubicBezTo>
                      <a:pt x="34" y="7"/>
                      <a:pt x="4" y="38"/>
                      <a:pt x="4" y="75"/>
                    </a:cubicBezTo>
                    <a:cubicBezTo>
                      <a:pt x="4" y="114"/>
                      <a:pt x="36" y="146"/>
                      <a:pt x="75" y="146"/>
                    </a:cubicBezTo>
                    <a:cubicBezTo>
                      <a:pt x="113" y="146"/>
                      <a:pt x="144" y="116"/>
                      <a:pt x="146" y="78"/>
                    </a:cubicBezTo>
                    <a:cubicBezTo>
                      <a:pt x="150" y="78"/>
                      <a:pt x="150" y="78"/>
                      <a:pt x="150" y="78"/>
                    </a:cubicBezTo>
                    <a:cubicBezTo>
                      <a:pt x="149" y="118"/>
                      <a:pt x="116" y="150"/>
                      <a:pt x="75" y="150"/>
                    </a:cubicBezTo>
                    <a:cubicBezTo>
                      <a:pt x="34" y="150"/>
                      <a:pt x="0" y="116"/>
                      <a:pt x="0" y="75"/>
                    </a:cubicBezTo>
                    <a:cubicBezTo>
                      <a:pt x="0" y="35"/>
                      <a:pt x="31" y="2"/>
                      <a:pt x="70" y="0"/>
                    </a:cubicBezTo>
                    <a:cubicBezTo>
                      <a:pt x="70" y="4"/>
                      <a:pt x="70" y="4"/>
                      <a:pt x="70" y="4"/>
                    </a:cubicBezTo>
                    <a:close/>
                    <a:moveTo>
                      <a:pt x="146" y="75"/>
                    </a:move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33"/>
                      <a:pt x="117" y="0"/>
                      <a:pt x="75" y="0"/>
                    </a:cubicBezTo>
                    <a:cubicBezTo>
                      <a:pt x="75" y="4"/>
                      <a:pt x="75" y="4"/>
                      <a:pt x="75" y="4"/>
                    </a:cubicBezTo>
                    <a:cubicBezTo>
                      <a:pt x="114" y="4"/>
                      <a:pt x="146" y="36"/>
                      <a:pt x="146" y="75"/>
                    </a:cubicBezTo>
                    <a:close/>
                  </a:path>
                </a:pathLst>
              </a:custGeom>
              <a:solidFill>
                <a:srgbClr val="8FA0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" name="Freeform 77"/>
              <p:cNvSpPr>
                <a:spLocks/>
              </p:cNvSpPr>
              <p:nvPr/>
            </p:nvSpPr>
            <p:spPr bwMode="auto">
              <a:xfrm>
                <a:off x="1223517" y="835852"/>
                <a:ext cx="456246" cy="459416"/>
              </a:xfrm>
              <a:custGeom>
                <a:avLst/>
                <a:gdLst>
                  <a:gd name="T0" fmla="*/ 76 w 76"/>
                  <a:gd name="T1" fmla="*/ 76 h 76"/>
                  <a:gd name="T2" fmla="*/ 70 w 76"/>
                  <a:gd name="T3" fmla="*/ 76 h 76"/>
                  <a:gd name="T4" fmla="*/ 0 w 76"/>
                  <a:gd name="T5" fmla="*/ 6 h 76"/>
                  <a:gd name="T6" fmla="*/ 0 w 76"/>
                  <a:gd name="T7" fmla="*/ 0 h 76"/>
                  <a:gd name="T8" fmla="*/ 76 w 76"/>
                  <a:gd name="T9" fmla="*/ 76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76">
                    <a:moveTo>
                      <a:pt x="76" y="76"/>
                    </a:moveTo>
                    <a:cubicBezTo>
                      <a:pt x="70" y="76"/>
                      <a:pt x="70" y="76"/>
                      <a:pt x="70" y="76"/>
                    </a:cubicBezTo>
                    <a:cubicBezTo>
                      <a:pt x="70" y="37"/>
                      <a:pt x="39" y="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2" y="0"/>
                      <a:pt x="76" y="34"/>
                      <a:pt x="76" y="76"/>
                    </a:cubicBezTo>
                    <a:close/>
                  </a:path>
                </a:pathLst>
              </a:cu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32" name="Grupo 31"/>
            <p:cNvGrpSpPr/>
            <p:nvPr/>
          </p:nvGrpSpPr>
          <p:grpSpPr>
            <a:xfrm>
              <a:off x="944265" y="1182578"/>
              <a:ext cx="563739" cy="225597"/>
              <a:chOff x="944265" y="1182578"/>
              <a:chExt cx="563739" cy="225597"/>
            </a:xfrm>
          </p:grpSpPr>
          <p:sp>
            <p:nvSpPr>
              <p:cNvPr id="33" name="Estrella de 5 puntas 32"/>
              <p:cNvSpPr/>
              <p:nvPr/>
            </p:nvSpPr>
            <p:spPr>
              <a:xfrm>
                <a:off x="944265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4" name="Estrella de 5 puntas 33"/>
              <p:cNvSpPr/>
              <p:nvPr/>
            </p:nvSpPr>
            <p:spPr>
              <a:xfrm>
                <a:off x="1090316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5" name="Estrella de 5 puntas 34"/>
              <p:cNvSpPr/>
              <p:nvPr/>
            </p:nvSpPr>
            <p:spPr>
              <a:xfrm>
                <a:off x="1018083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6" name="Estrella de 5 puntas 35"/>
              <p:cNvSpPr/>
              <p:nvPr/>
            </p:nvSpPr>
            <p:spPr>
              <a:xfrm>
                <a:off x="1164531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7" name="Estrella de 5 puntas 36"/>
              <p:cNvSpPr/>
              <p:nvPr/>
            </p:nvSpPr>
            <p:spPr>
              <a:xfrm>
                <a:off x="1310979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8" name="Estrella de 5 puntas 37"/>
              <p:cNvSpPr/>
              <p:nvPr/>
            </p:nvSpPr>
            <p:spPr>
              <a:xfrm>
                <a:off x="1236367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9" name="Estrella de 5 puntas 38"/>
              <p:cNvSpPr/>
              <p:nvPr/>
            </p:nvSpPr>
            <p:spPr>
              <a:xfrm>
                <a:off x="1382419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</p:grpSp>
      <p:sp>
        <p:nvSpPr>
          <p:cNvPr id="43" name="Trapecio 1"/>
          <p:cNvSpPr/>
          <p:nvPr userDrawn="1"/>
        </p:nvSpPr>
        <p:spPr>
          <a:xfrm>
            <a:off x="8583751" y="460707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4" name="Trapecio 1"/>
          <p:cNvSpPr/>
          <p:nvPr userDrawn="1"/>
        </p:nvSpPr>
        <p:spPr>
          <a:xfrm rot="20431647">
            <a:off x="9070984" y="452258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5" name="Trapecio 1"/>
          <p:cNvSpPr/>
          <p:nvPr userDrawn="1"/>
        </p:nvSpPr>
        <p:spPr>
          <a:xfrm rot="19323297">
            <a:off x="9509230" y="429296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6" name="Trapecio 1"/>
          <p:cNvSpPr/>
          <p:nvPr userDrawn="1"/>
        </p:nvSpPr>
        <p:spPr>
          <a:xfrm rot="18063655">
            <a:off x="9831149" y="3909321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Trapecio 1"/>
          <p:cNvSpPr/>
          <p:nvPr userDrawn="1"/>
        </p:nvSpPr>
        <p:spPr>
          <a:xfrm rot="14328352">
            <a:off x="9815603" y="2400822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8" name="Trapecio 1"/>
          <p:cNvSpPr/>
          <p:nvPr userDrawn="1"/>
        </p:nvSpPr>
        <p:spPr>
          <a:xfrm rot="13163390">
            <a:off x="9493837" y="203750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9" name="Trapecio 1"/>
          <p:cNvSpPr/>
          <p:nvPr userDrawn="1"/>
        </p:nvSpPr>
        <p:spPr>
          <a:xfrm rot="11956148">
            <a:off x="9067506" y="178985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Trapecio 1"/>
          <p:cNvSpPr/>
          <p:nvPr userDrawn="1"/>
        </p:nvSpPr>
        <p:spPr>
          <a:xfrm rot="10800000">
            <a:off x="8583751" y="170308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" name="Trapecio 1"/>
          <p:cNvSpPr/>
          <p:nvPr userDrawn="1"/>
        </p:nvSpPr>
        <p:spPr>
          <a:xfrm rot="9576918">
            <a:off x="8095978" y="17965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2" name="Trapecio 1"/>
          <p:cNvSpPr/>
          <p:nvPr userDrawn="1"/>
        </p:nvSpPr>
        <p:spPr>
          <a:xfrm rot="8372291">
            <a:off x="7681520" y="206404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3" name="Trapecio 1"/>
          <p:cNvSpPr/>
          <p:nvPr userDrawn="1"/>
        </p:nvSpPr>
        <p:spPr>
          <a:xfrm rot="7199189">
            <a:off x="7369241" y="244652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4" name="Trapecio 1"/>
          <p:cNvSpPr/>
          <p:nvPr userDrawn="1"/>
        </p:nvSpPr>
        <p:spPr>
          <a:xfrm rot="6041318">
            <a:off x="7202608" y="290310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5" name="Trapecio 1"/>
          <p:cNvSpPr/>
          <p:nvPr userDrawn="1"/>
        </p:nvSpPr>
        <p:spPr>
          <a:xfrm rot="4824027">
            <a:off x="7214348" y="34011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Trapecio 1"/>
          <p:cNvSpPr/>
          <p:nvPr userDrawn="1"/>
        </p:nvSpPr>
        <p:spPr>
          <a:xfrm rot="3652284">
            <a:off x="7374687" y="387182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7" name="Trapecio 1"/>
          <p:cNvSpPr/>
          <p:nvPr userDrawn="1"/>
        </p:nvSpPr>
        <p:spPr>
          <a:xfrm rot="2391762">
            <a:off x="7681520" y="426051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8" name="Trapecio 1"/>
          <p:cNvSpPr/>
          <p:nvPr userDrawn="1"/>
        </p:nvSpPr>
        <p:spPr>
          <a:xfrm rot="1224926">
            <a:off x="8115752" y="4513093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9" name="Elipse 58"/>
          <p:cNvSpPr/>
          <p:nvPr userDrawn="1"/>
        </p:nvSpPr>
        <p:spPr>
          <a:xfrm>
            <a:off x="7865457" y="2709807"/>
            <a:ext cx="1885131" cy="1885131"/>
          </a:xfrm>
          <a:prstGeom prst="ellipse">
            <a:avLst/>
          </a:prstGeom>
          <a:noFill/>
          <a:ln w="508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0" name="Triángulo isósceles 3"/>
          <p:cNvSpPr/>
          <p:nvPr userDrawn="1"/>
        </p:nvSpPr>
        <p:spPr>
          <a:xfrm rot="5400000">
            <a:off x="6985018" y="3163693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1" name="Triángulo isósceles 3"/>
          <p:cNvSpPr/>
          <p:nvPr userDrawn="1"/>
        </p:nvSpPr>
        <p:spPr>
          <a:xfrm rot="5400000">
            <a:off x="6556902" y="3572450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62" name="Grupo 61"/>
          <p:cNvGrpSpPr/>
          <p:nvPr userDrawn="1"/>
        </p:nvGrpSpPr>
        <p:grpSpPr>
          <a:xfrm>
            <a:off x="6570991" y="3947534"/>
            <a:ext cx="176674" cy="1003824"/>
            <a:chOff x="6570991" y="3815182"/>
            <a:chExt cx="176674" cy="1003824"/>
          </a:xfrm>
        </p:grpSpPr>
        <p:cxnSp>
          <p:nvCxnSpPr>
            <p:cNvPr id="63" name="Conector recto 62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66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recto 67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74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o 75"/>
          <p:cNvGrpSpPr/>
          <p:nvPr userDrawn="1"/>
        </p:nvGrpSpPr>
        <p:grpSpPr>
          <a:xfrm>
            <a:off x="6573120" y="2501919"/>
            <a:ext cx="176674" cy="1003824"/>
            <a:chOff x="6570991" y="3815182"/>
            <a:chExt cx="176674" cy="1003824"/>
          </a:xfrm>
        </p:grpSpPr>
        <p:cxnSp>
          <p:nvCxnSpPr>
            <p:cNvPr id="77" name="Conector recto 76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recto 77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recto 79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85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recto 86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87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upo 89"/>
          <p:cNvGrpSpPr/>
          <p:nvPr userDrawn="1"/>
        </p:nvGrpSpPr>
        <p:grpSpPr>
          <a:xfrm>
            <a:off x="7204014" y="2619601"/>
            <a:ext cx="193037" cy="1987473"/>
            <a:chOff x="7204014" y="2487249"/>
            <a:chExt cx="193037" cy="1987473"/>
          </a:xfrm>
        </p:grpSpPr>
        <p:cxnSp>
          <p:nvCxnSpPr>
            <p:cNvPr id="91" name="Conector recto 90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recto 91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recto 92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cto 93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recto 94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recto 95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cto 96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recto 97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recto 98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cto 99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cto 100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upo 101"/>
          <p:cNvGrpSpPr/>
          <p:nvPr userDrawn="1"/>
        </p:nvGrpSpPr>
        <p:grpSpPr>
          <a:xfrm rot="5400000">
            <a:off x="8689544" y="1476634"/>
            <a:ext cx="193037" cy="1987473"/>
            <a:chOff x="7204014" y="2487249"/>
            <a:chExt cx="193037" cy="1987473"/>
          </a:xfrm>
        </p:grpSpPr>
        <p:cxnSp>
          <p:nvCxnSpPr>
            <p:cNvPr id="103" name="Conector recto 102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cto 103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cto 104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recto 105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recto 106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recto 107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recto 108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recto 109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recto 110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recto 111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cto 112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4" name="Triángulo isósceles 3"/>
          <p:cNvSpPr/>
          <p:nvPr userDrawn="1"/>
        </p:nvSpPr>
        <p:spPr>
          <a:xfrm rot="10800000">
            <a:off x="8708196" y="2240176"/>
            <a:ext cx="179849" cy="210073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115" name="Grupo 114"/>
          <p:cNvGrpSpPr/>
          <p:nvPr userDrawn="1"/>
        </p:nvGrpSpPr>
        <p:grpSpPr>
          <a:xfrm rot="5400000">
            <a:off x="10970970" y="2876518"/>
            <a:ext cx="176674" cy="1003824"/>
            <a:chOff x="6570991" y="3815182"/>
            <a:chExt cx="176674" cy="1003824"/>
          </a:xfrm>
        </p:grpSpPr>
        <p:cxnSp>
          <p:nvCxnSpPr>
            <p:cNvPr id="116" name="Conector recto 11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ector recto 11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ector recto 11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ector recto 11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ector recto 11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ector recto 12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ector recto 12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ector recto 12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ector recto 12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ector recto 12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ector recto 12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ector recto 12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ector recto 12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upo 128"/>
          <p:cNvGrpSpPr/>
          <p:nvPr userDrawn="1"/>
        </p:nvGrpSpPr>
        <p:grpSpPr>
          <a:xfrm>
            <a:off x="9563660" y="3552335"/>
            <a:ext cx="2318203" cy="176674"/>
            <a:chOff x="9563660" y="3419983"/>
            <a:chExt cx="2318203" cy="176674"/>
          </a:xfrm>
        </p:grpSpPr>
        <p:cxnSp>
          <p:nvCxnSpPr>
            <p:cNvPr id="130" name="Conector recto 129"/>
            <p:cNvCxnSpPr/>
            <p:nvPr/>
          </p:nvCxnSpPr>
          <p:spPr>
            <a:xfrm flipH="1">
              <a:off x="9563660" y="3509666"/>
              <a:ext cx="2318203" cy="0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ector recto 130"/>
            <p:cNvCxnSpPr/>
            <p:nvPr/>
          </p:nvCxnSpPr>
          <p:spPr>
            <a:xfrm rot="5400000" flipH="1">
              <a:off x="114367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ector recto 131"/>
            <p:cNvCxnSpPr/>
            <p:nvPr/>
          </p:nvCxnSpPr>
          <p:spPr>
            <a:xfrm rot="5400000" flipH="1">
              <a:off x="1126932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ector recto 132"/>
            <p:cNvCxnSpPr/>
            <p:nvPr/>
          </p:nvCxnSpPr>
          <p:spPr>
            <a:xfrm rot="5400000" flipH="1">
              <a:off x="109423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ector recto 133"/>
            <p:cNvCxnSpPr/>
            <p:nvPr/>
          </p:nvCxnSpPr>
          <p:spPr>
            <a:xfrm rot="5400000" flipH="1">
              <a:off x="1077494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ector recto 134"/>
            <p:cNvCxnSpPr/>
            <p:nvPr/>
          </p:nvCxnSpPr>
          <p:spPr>
            <a:xfrm rot="5400000" flipH="1">
              <a:off x="1061813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ector recto 135"/>
            <p:cNvCxnSpPr/>
            <p:nvPr/>
          </p:nvCxnSpPr>
          <p:spPr>
            <a:xfrm rot="5400000" flipH="1">
              <a:off x="101193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ector recto 136"/>
            <p:cNvCxnSpPr/>
            <p:nvPr/>
          </p:nvCxnSpPr>
          <p:spPr>
            <a:xfrm rot="5400000" flipH="1">
              <a:off x="9957237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ector recto 137"/>
            <p:cNvCxnSpPr/>
            <p:nvPr/>
          </p:nvCxnSpPr>
          <p:spPr>
            <a:xfrm rot="5400000" flipH="1">
              <a:off x="980042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ector recto 138"/>
            <p:cNvCxnSpPr/>
            <p:nvPr/>
          </p:nvCxnSpPr>
          <p:spPr>
            <a:xfrm rot="5400000" flipH="1">
              <a:off x="961703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ector recto 139"/>
            <p:cNvCxnSpPr/>
            <p:nvPr/>
          </p:nvCxnSpPr>
          <p:spPr>
            <a:xfrm rot="5400000" flipH="1">
              <a:off x="94814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ector recto 140"/>
            <p:cNvCxnSpPr/>
            <p:nvPr/>
          </p:nvCxnSpPr>
          <p:spPr>
            <a:xfrm rot="5400000" flipH="1">
              <a:off x="1029303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ector recto 141"/>
            <p:cNvCxnSpPr/>
            <p:nvPr/>
          </p:nvCxnSpPr>
          <p:spPr>
            <a:xfrm rot="5400000" flipH="1">
              <a:off x="1110110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ector recto 142"/>
            <p:cNvCxnSpPr/>
            <p:nvPr/>
          </p:nvCxnSpPr>
          <p:spPr>
            <a:xfrm rot="5400000" flipH="1">
              <a:off x="11594482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ector recto 143"/>
            <p:cNvCxnSpPr/>
            <p:nvPr/>
          </p:nvCxnSpPr>
          <p:spPr>
            <a:xfrm rot="5400000" flipH="1">
              <a:off x="1178637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upo 144"/>
          <p:cNvGrpSpPr/>
          <p:nvPr userDrawn="1"/>
        </p:nvGrpSpPr>
        <p:grpSpPr>
          <a:xfrm rot="5400000">
            <a:off x="11598285" y="3526381"/>
            <a:ext cx="118159" cy="671354"/>
            <a:chOff x="6570991" y="3815182"/>
            <a:chExt cx="176674" cy="1003824"/>
          </a:xfrm>
        </p:grpSpPr>
        <p:cxnSp>
          <p:nvCxnSpPr>
            <p:cNvPr id="146" name="Conector recto 14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ector recto 14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ector recto 14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ector recto 14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ector recto 14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ector recto 15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ector recto 15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ector recto 15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Conector recto 15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ector recto 15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ector recto 15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ector recto 15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ector recto 15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9" name="Grupo 158"/>
          <p:cNvGrpSpPr/>
          <p:nvPr userDrawn="1"/>
        </p:nvGrpSpPr>
        <p:grpSpPr>
          <a:xfrm>
            <a:off x="9892127" y="2217843"/>
            <a:ext cx="231588" cy="1287157"/>
            <a:chOff x="9892127" y="2085491"/>
            <a:chExt cx="231588" cy="1287157"/>
          </a:xfrm>
        </p:grpSpPr>
        <p:cxnSp>
          <p:nvCxnSpPr>
            <p:cNvPr id="160" name="Conector recto 159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ector recto 160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ector recto 161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upo 162"/>
          <p:cNvGrpSpPr/>
          <p:nvPr userDrawn="1"/>
        </p:nvGrpSpPr>
        <p:grpSpPr>
          <a:xfrm flipH="1">
            <a:off x="9874935" y="3763671"/>
            <a:ext cx="230400" cy="1287157"/>
            <a:chOff x="9892127" y="2085491"/>
            <a:chExt cx="231588" cy="1287157"/>
          </a:xfrm>
        </p:grpSpPr>
        <p:cxnSp>
          <p:nvCxnSpPr>
            <p:cNvPr id="164" name="Conector recto 163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ector recto 164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ector recto 165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82801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FB508-FECB-4945-A08B-E33F7C3AA1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402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699" r:id="rId2"/>
    <p:sldLayoutId id="2147483705" r:id="rId3"/>
    <p:sldLayoutId id="2147483695" r:id="rId4"/>
    <p:sldLayoutId id="2147483700" r:id="rId5"/>
    <p:sldLayoutId id="2147483703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6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91" y="6042768"/>
            <a:ext cx="1970676" cy="665010"/>
          </a:xfrm>
          <a:prstGeom prst="rect">
            <a:avLst/>
          </a:prstGeom>
        </p:spPr>
      </p:pic>
      <p:sp>
        <p:nvSpPr>
          <p:cNvPr id="40" name="CuadroTexto 39"/>
          <p:cNvSpPr txBox="1"/>
          <p:nvPr/>
        </p:nvSpPr>
        <p:spPr>
          <a:xfrm>
            <a:off x="9448800" y="643151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Century Gothic" panose="020B0502020202020204" pitchFamily="34" charset="0"/>
              </a:rPr>
              <a:t>29 Septiembre 2026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Identificación Pain Points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noFill/>
        </p:spPr>
        <p:txBody>
          <a:bodyPr/>
          <a:lstStyle/>
          <a:p>
            <a:r>
              <a:rPr lang="es-ES" dirty="0"/>
              <a:t>Servicio de minería de procesos para la consejería de "Familia, Juventud y Asuntos sociales​</a:t>
            </a:r>
            <a:br>
              <a:rPr lang="es-ES" dirty="0"/>
            </a:br>
            <a:r>
              <a:rPr lang="es-ES" sz="2000" dirty="0">
                <a:solidFill>
                  <a:srgbClr val="C00000"/>
                </a:solidFill>
              </a:rPr>
              <a:t>Dependencia y discapacidad</a:t>
            </a:r>
            <a:endParaRPr lang="es-E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101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598CA-1042-F86B-A39F-E3EEF7DF6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CAA48D2A-C1F0-4809-1E46-4090FF6203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CAA48D2A-C1F0-4809-1E46-4090FF6203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1" name="Imagen 20">
            <a:extLst>
              <a:ext uri="{FF2B5EF4-FFF2-40B4-BE49-F238E27FC236}">
                <a16:creationId xmlns:a16="http://schemas.microsoft.com/office/drawing/2014/main" id="{2A3AE94A-EF47-FE27-7488-890C0BBAB31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48" y="5904689"/>
            <a:ext cx="2870721" cy="729575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7D56E0DC-E097-C6FC-F916-B95FF9CEA5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1832" y="5897758"/>
            <a:ext cx="2097007" cy="707640"/>
          </a:xfrm>
          <a:prstGeom prst="rect">
            <a:avLst/>
          </a:prstGeom>
        </p:spPr>
      </p:pic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4ED457-4EAA-41A6-D552-208FBC5A6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1800" b="1" dirty="0"/>
              <a:t>1. Pain points · Dependencia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2. Pain points · Discapacidad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3. Próximos pasos</a:t>
            </a:r>
          </a:p>
          <a:p>
            <a:pPr marL="0" indent="0">
              <a:buNone/>
            </a:pPr>
            <a:endParaRPr lang="es-ES" sz="1800" b="1" dirty="0"/>
          </a:p>
        </p:txBody>
      </p:sp>
    </p:spTree>
    <p:extLst>
      <p:ext uri="{BB962C8B-B14F-4D97-AF65-F5344CB8AC3E}">
        <p14:creationId xmlns:p14="http://schemas.microsoft.com/office/powerpoint/2010/main" val="329728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Solicitud y reconocimiento de la dependencia, grado y PIA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8199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38199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38199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99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Subsanación documental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8199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54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199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bloqueado de media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8199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expediente se detiene esperando documentación que no se validó en el alta.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638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3638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23638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3638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Citación manual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638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3638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requiere una segunda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3638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Sin agenda integrada ni recordatorios: incomparecencias y recitaciones.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9077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09077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9077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9077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Valoración en papel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9077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9077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valoraciones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9077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recoge fuera de sistema y se transcribe después, con riesgo de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199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38199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8199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99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Reparto desigual de la carga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199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62–128 %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199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carga por técnico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8199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Del técnico infrautilizado al saturado, sin reglas de asignación.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3638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23638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3638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3638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Resolución de Grado y PIA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3638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3638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media tras la valoración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3638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Dictamen, comisión y resolución encadenados y manuales.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59077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09077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09077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9077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Documentación inicial incompleta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9077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+65 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9077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adicionales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9077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Los expedientes sin informe médico se desvían del flujo estándar.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estimado en la PoC: entre −25 % y −60 % del plazo según la oportunidad · Fuente: SIDEMA · cuadro de mando de gestión de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Adjudicación de servicios comunitarios (EELL)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Espera hasta el servicio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67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frente a 45 de objetivo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841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Desde que se resuelve el PIA hasta que la prestación se activa.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Prelación por 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Grado III fuera de umbral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 gran dependencia no se atiende antes que la moderada.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Personas no localizadas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exclusiones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excluye a quien no responde al teléfono, sin registro del intento.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Reingresos sin antigüedad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personas reincorporadas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Al volver ocupan nueva posición y empiezan la espera de cero.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Desigualdad territorial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34–112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según el municipio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3280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plazo depende del lote: la Sierra Norte espera el triple.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Lista de espera creciente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expedientes por encima de 90 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719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Las entradas superan a las activaciones de forma sostenida desde marzo.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pendiente de cuantificar: este caso de uso no cuenta todavía con PoC de ahorro · Fuente: SIDEMA y SAP · cuadro de mando de lista de espera.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Discapacidad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Reconocimiento del grado de discapacidad · qué dolores ataca la solución de Celonis ya construida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Sin una foto única de la demanda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56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Las entradas de los diez centros base se consultaban por separado.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47841" y="299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7841" y="306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7841" y="324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Panel de Entradas con el total por tipo de solicitud y centro en una sola pantalla.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No se sabía dónde se iba el plazo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256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Se conocía el tiempo total, pero no qué fase lo consumía.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3280" y="299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33280" y="306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3280" y="324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Tiempos de proceso desglosados por tramos para localizar la fase más lenta.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Retrabajo de las reclamaciones previas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256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Expedientes que vuelven a entrar sin verse como carga de trabajo.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18719" y="299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18719" y="306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8719" y="324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Reclamaciones previas separadas del resto de entradas, por tipo y por centro.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Carga añadida por el nuevo baremo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841" y="475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Las revisiones del RD 888/2022 se mezclaban con la demanda ordinaria.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7841" y="518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47841" y="525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841" y="54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Fila propia para las revisiones del RD 888/2022, aparte del resto.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Planificación de la valoración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3280" y="475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Sin conocer la mezcla de despistaje y edad no se puede ajustar la agenda.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33280" y="518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633280" y="525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3280" y="54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Desglose por tipo de despistaje y tramo de edad en cada centro base.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Centros con perfiles distintos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8719" y="4750000"/>
            <a:ext cx="2925439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767C86"/>
                </a:solidFill>
                <a:latin typeface="Century Gothic"/>
              </a:rPr>
              <a:t>Comparar centros con perfiles diferentes lleva a conclusiones erróneas.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18719" y="518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318719" y="5250000"/>
            <a:ext cx="2925439" cy="1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961628"/>
                </a:solidFill>
                <a:latin typeface="Century Gothic"/>
              </a:rPr>
              <a:t>CÓMO LO ATACA CELONIS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18719" y="54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D2D2D"/>
                </a:solidFill>
                <a:latin typeface="Century Gothic"/>
              </a:rPr>
              <a:t>Subtotales con y sin el centro de menores y selector por centro en la vista directiva.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Fuente: paneles de Celonis · Discapacidad (PROD) · Panel de Entradas, vistas ejecutiva y directiva.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27109" y="3440028"/>
            <a:ext cx="5284933" cy="580065"/>
          </a:xfrm>
        </p:spPr>
        <p:txBody>
          <a:bodyPr>
            <a:noAutofit/>
          </a:bodyPr>
          <a:lstStyle/>
          <a:p>
            <a:pPr marL="352425" indent="-352425"/>
            <a:r>
              <a:rPr lang="en-US" sz="8800" b="0"/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681503552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8160" y="360664"/>
            <a:ext cx="105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Proceso de dependencia · de la solicitud al servicio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Dos casos de uso sobre un mismo recorrido, ambos gestionados en SIDEMA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7841" y="1380000"/>
            <a:ext cx="10796318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1628"/>
                </a:solidFill>
                <a:latin typeface="Century Gothic"/>
              </a:rPr>
              <a:t>CU1 · Reconocimiento del grado y PIA</a:t>
            </a:r>
          </a:p>
        </p:txBody>
      </p:sp>
      <p:sp>
        <p:nvSpPr>
          <p:cNvPr id="5" name="Pentagon 4"/>
          <p:cNvSpPr/>
          <p:nvPr/>
        </p:nvSpPr>
        <p:spPr>
          <a:xfrm>
            <a:off x="697841" y="1710000"/>
            <a:ext cx="3552106" cy="560000"/>
          </a:xfrm>
          <a:prstGeom prst="homePlate">
            <a:avLst>
              <a:gd name="adj" fmla="val 28000"/>
            </a:avLst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200000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Grabación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7841" y="2380000"/>
            <a:ext cx="3312106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67C86"/>
                </a:solidFill>
                <a:latin typeface="Century Gothic"/>
              </a:rPr>
              <a:t>Registro, alta del expediente y subsanación de documentación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7841" y="2830000"/>
            <a:ext cx="3312106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Century Gothic"/>
              </a:rPr>
              <a:t>● </a:t>
            </a:r>
            <a:r>
              <a:rPr sz="900" b="1">
                <a:solidFill>
                  <a:srgbClr val="C00000"/>
                </a:solidFill>
                <a:latin typeface="Century Gothic"/>
              </a:rPr>
              <a:t>Subsanación documental</a:t>
            </a:r>
          </a:p>
        </p:txBody>
      </p:sp>
      <p:sp>
        <p:nvSpPr>
          <p:cNvPr id="8" name="Chevron 7"/>
          <p:cNvSpPr/>
          <p:nvPr/>
        </p:nvSpPr>
        <p:spPr>
          <a:xfrm>
            <a:off x="4319947" y="1710000"/>
            <a:ext cx="3552106" cy="560000"/>
          </a:xfrm>
          <a:prstGeom prst="chevron">
            <a:avLst>
              <a:gd name="adj" fmla="val 28000"/>
            </a:avLst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00000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Valoración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9947" y="2380000"/>
            <a:ext cx="3312106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67C86"/>
                </a:solidFill>
                <a:latin typeface="Century Gothic"/>
              </a:rPr>
              <a:t>Citación, visita del valorador, dictamen, comisión y resolución del grado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9947" y="2830000"/>
            <a:ext cx="3312106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Century Gothic"/>
              </a:rPr>
              <a:t>● </a:t>
            </a:r>
            <a:r>
              <a:rPr sz="900" b="1">
                <a:solidFill>
                  <a:srgbClr val="C00000"/>
                </a:solidFill>
                <a:latin typeface="Century Gothic"/>
              </a:rPr>
              <a:t>Citación manual y valoración en papel</a:t>
            </a:r>
          </a:p>
        </p:txBody>
      </p:sp>
      <p:sp>
        <p:nvSpPr>
          <p:cNvPr id="11" name="Chevron 10"/>
          <p:cNvSpPr/>
          <p:nvPr/>
        </p:nvSpPr>
        <p:spPr>
          <a:xfrm>
            <a:off x="7942053" y="1710000"/>
            <a:ext cx="3552106" cy="560000"/>
          </a:xfrm>
          <a:prstGeom prst="chevron">
            <a:avLst>
              <a:gd name="adj" fmla="val 28000"/>
            </a:avLst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00000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Resolución del PIA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2053" y="2380000"/>
            <a:ext cx="3312106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67C86"/>
                </a:solidFill>
                <a:latin typeface="Century Gothic"/>
              </a:rPr>
              <a:t>Elaboración del plan de cuidados y resolución de la prestación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2053" y="2830000"/>
            <a:ext cx="3312106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Century Gothic"/>
              </a:rPr>
              <a:t>● </a:t>
            </a:r>
            <a:r>
              <a:rPr sz="900" b="1">
                <a:solidFill>
                  <a:srgbClr val="C00000"/>
                </a:solidFill>
                <a:latin typeface="Century Gothic"/>
              </a:rPr>
              <a:t>Tramitación manual y secuencial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6000" y="3230000"/>
            <a:ext cx="5200000" cy="3300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000000"/>
                </a:solidFill>
                <a:latin typeface="Century Gothic"/>
              </a:rPr>
              <a:t>▼  PIA resuelto</a:t>
            </a:r>
            <a:r>
              <a:rPr sz="1000" b="0">
                <a:solidFill>
                  <a:srgbClr val="767C86"/>
                </a:solidFill>
                <a:latin typeface="Century Gothic"/>
              </a:rPr>
              <a:t>  ·  derecho reconocido, falta prestarlo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841" y="3800000"/>
            <a:ext cx="10796318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F4652"/>
                </a:solidFill>
                <a:latin typeface="Century Gothic"/>
              </a:rPr>
              <a:t>CU2 · Adjudicación de servicios comunitarios (EELL)</a:t>
            </a:r>
          </a:p>
        </p:txBody>
      </p:sp>
      <p:sp>
        <p:nvSpPr>
          <p:cNvPr id="16" name="Pentagon 15"/>
          <p:cNvSpPr/>
          <p:nvPr/>
        </p:nvSpPr>
        <p:spPr>
          <a:xfrm>
            <a:off x="697841" y="4130000"/>
            <a:ext cx="2646579" cy="560000"/>
          </a:xfrm>
          <a:prstGeom prst="homePlate">
            <a:avLst>
              <a:gd name="adj" fmla="val 28000"/>
            </a:avLst>
          </a:prstGeom>
          <a:solidFill>
            <a:srgbClr val="3F4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200000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Alta en lista de espera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841" y="4800000"/>
            <a:ext cx="2406579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67C86"/>
                </a:solidFill>
                <a:latin typeface="Century Gothic"/>
              </a:rPr>
              <a:t>Por servicio (ayuda a domicilio o teleasistencia) y lote</a:t>
            </a:r>
          </a:p>
        </p:txBody>
      </p:sp>
      <p:sp>
        <p:nvSpPr>
          <p:cNvPr id="18" name="Chevron 17"/>
          <p:cNvSpPr/>
          <p:nvPr/>
        </p:nvSpPr>
        <p:spPr>
          <a:xfrm>
            <a:off x="3414420" y="4130000"/>
            <a:ext cx="2646579" cy="560000"/>
          </a:xfrm>
          <a:prstGeom prst="chevron">
            <a:avLst>
              <a:gd name="adj" fmla="val 28000"/>
            </a:avLst>
          </a:prstGeom>
          <a:solidFill>
            <a:srgbClr val="3F4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00000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Gestión y contacto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420" y="4800000"/>
            <a:ext cx="2406579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67C86"/>
                </a:solidFill>
                <a:latin typeface="Century Gothic"/>
              </a:rPr>
              <a:t>Localización, visita al domicilio y firma del acuerdo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4420" y="5250000"/>
            <a:ext cx="2406579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Century Gothic"/>
              </a:rPr>
              <a:t>● </a:t>
            </a:r>
            <a:r>
              <a:rPr sz="900" b="1">
                <a:solidFill>
                  <a:srgbClr val="C00000"/>
                </a:solidFill>
                <a:latin typeface="Century Gothic"/>
              </a:rPr>
              <a:t>Personas no localizadas</a:t>
            </a:r>
          </a:p>
        </p:txBody>
      </p:sp>
      <p:sp>
        <p:nvSpPr>
          <p:cNvPr id="21" name="Chevron 20"/>
          <p:cNvSpPr/>
          <p:nvPr/>
        </p:nvSpPr>
        <p:spPr>
          <a:xfrm>
            <a:off x="6130999" y="4130000"/>
            <a:ext cx="2646579" cy="560000"/>
          </a:xfrm>
          <a:prstGeom prst="chevron">
            <a:avLst>
              <a:gd name="adj" fmla="val 28000"/>
            </a:avLst>
          </a:prstGeom>
          <a:solidFill>
            <a:srgbClr val="3F4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00000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Asignación de servicio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0999" y="4800000"/>
            <a:ext cx="2406579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67C86"/>
                </a:solidFill>
                <a:latin typeface="Century Gothic"/>
              </a:rPr>
              <a:t>Por prelación de grado y capacidad del lote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0999" y="5250000"/>
            <a:ext cx="2406579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Century Gothic"/>
              </a:rPr>
              <a:t>● </a:t>
            </a:r>
            <a:r>
              <a:rPr sz="900" b="1">
                <a:solidFill>
                  <a:srgbClr val="C00000"/>
                </a:solidFill>
                <a:latin typeface="Century Gothic"/>
              </a:rPr>
              <a:t>Prelación por grado</a:t>
            </a:r>
          </a:p>
        </p:txBody>
      </p:sp>
      <p:sp>
        <p:nvSpPr>
          <p:cNvPr id="24" name="Chevron 23"/>
          <p:cNvSpPr/>
          <p:nvPr/>
        </p:nvSpPr>
        <p:spPr>
          <a:xfrm>
            <a:off x="8847578" y="4130000"/>
            <a:ext cx="2646579" cy="560000"/>
          </a:xfrm>
          <a:prstGeom prst="chevron">
            <a:avLst>
              <a:gd name="adj" fmla="val 28000"/>
            </a:avLst>
          </a:prstGeom>
          <a:solidFill>
            <a:srgbClr val="3F4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00000"/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Alta del servicio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7578" y="4800000"/>
            <a:ext cx="2406579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67C86"/>
                </a:solidFill>
                <a:latin typeface="Century Gothic"/>
              </a:rPr>
              <a:t>Inicio efectivo de la prestación en el domicilio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841" y="6200000"/>
            <a:ext cx="10796318" cy="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Century Gothic"/>
              </a:rPr>
              <a:t>● </a:t>
            </a:r>
            <a:r>
              <a:rPr sz="900" b="0">
                <a:solidFill>
                  <a:srgbClr val="767C86"/>
                </a:solidFill>
                <a:latin typeface="Century Gothic"/>
              </a:rPr>
              <a:t>Cuello de botella principal de cada fase</a:t>
            </a:r>
            <a:r>
              <a:rPr sz="900" b="0">
                <a:solidFill>
                  <a:srgbClr val="767C86"/>
                </a:solidFill>
                <a:latin typeface="Century Gothic"/>
              </a:rPr>
              <a:t>     ·     Sistemas: SIDEMA · SAP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DD3AE529E32054A8978655A6B00BD28" ma:contentTypeVersion="10" ma:contentTypeDescription="Crear nuevo documento." ma:contentTypeScope="" ma:versionID="471274ee153b20e762301b505fa42d27">
  <xsd:schema xmlns:xsd="http://www.w3.org/2001/XMLSchema" xmlns:xs="http://www.w3.org/2001/XMLSchema" xmlns:p="http://schemas.microsoft.com/office/2006/metadata/properties" xmlns:ns2="97addc6c-b1e4-4411-90d0-91e612ae66f9" targetNamespace="http://schemas.microsoft.com/office/2006/metadata/properties" ma:root="true" ma:fieldsID="ee55ca544dd342a43670f42c632b29a8" ns2:_="">
    <xsd:import namespace="97addc6c-b1e4-4411-90d0-91e612ae66f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addc6c-b1e4-4411-90d0-91e612ae66f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7addc6c-b1e4-4411-90d0-91e612ae66f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AB157B8-4E50-4BC8-AEE8-EE4834471FD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A44879B-24FB-4786-ABEE-FF7F2641DB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7addc6c-b1e4-4411-90d0-91e612ae66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795B490-509A-491C-B17B-2413D450327A}">
  <ds:schemaRefs>
    <ds:schemaRef ds:uri="http://purl.org/dc/dcmitype/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97addc6c-b1e4-4411-90d0-91e612ae66f9"/>
    <ds:schemaRef ds:uri="http://schemas.microsoft.com/office/2006/metadata/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281412e0-2f0e-4e2b-8790-1e1d44ea0a80}" enabled="0" method="" siteId="{281412e0-2f0e-4e2b-8790-1e1d44ea0a80}" removed="1"/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398</Words>
  <Application>Microsoft Office PowerPoint</Application>
  <PresentationFormat>Panorámica</PresentationFormat>
  <Paragraphs>76</Paragraphs>
  <Slides>5</Slides>
  <Notes>1</Notes>
  <HiddenSlides>0</HiddenSlides>
  <MMClips>0</MMClips>
  <ScaleCrop>false</ScaleCrop>
  <HeadingPairs>
    <vt:vector size="8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Century Gothic</vt:lpstr>
      <vt:lpstr>Tema de Office</vt:lpstr>
      <vt:lpstr>Diapositiva de think-cell</vt:lpstr>
      <vt:lpstr>Servicio de minería de procesos para la consejería de "Familia, Juventud y Asuntos sociales​ Dependencia y discapacidad</vt:lpstr>
      <vt:lpstr>Presentación de PowerPoint</vt:lpstr>
      <vt:lpstr>Presentación de PowerPoint</vt:lpstr>
      <vt:lpstr>Presentación de PowerPoint</vt:lpstr>
      <vt:lpstr>GRACIAS</vt:lpstr>
    </vt:vector>
  </TitlesOfParts>
  <Company>Comunidad de Madrid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Madrid Digital</dc:creator>
  <cp:lastModifiedBy>Anthony Sebastian Xerri Hawley</cp:lastModifiedBy>
  <cp:revision>4</cp:revision>
  <dcterms:created xsi:type="dcterms:W3CDTF">2024-02-05T12:05:57Z</dcterms:created>
  <dcterms:modified xsi:type="dcterms:W3CDTF">2026-09-30T08:39:31Z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0x0101000DD3AE529E32054A8978655A6B00BD28</vt:lpwstr>
  </property>
</Properties>
</file>