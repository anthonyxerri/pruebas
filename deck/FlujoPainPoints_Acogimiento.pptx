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a del título"/>
          <p:cNvSpPr/>
          <p:nvPr/>
        </p:nvSpPr>
        <p:spPr>
          <a:xfrm>
            <a:off x="347472" y="274320"/>
            <a:ext cx="11475720" cy="868680"/>
          </a:xfrm>
          <a:prstGeom prst="roundRect">
            <a:avLst>
              <a:gd name="adj" fmla="val 21053"/>
            </a:avLst>
          </a:prstGeom>
          <a:solidFill>
            <a:srgbClr val="F4A7AF"/>
          </a:solidFill>
          <a:ln/>
        </p:spPr>
      </p:sp>
      <p:sp>
        <p:nvSpPr>
          <p:cNvPr id="3" name="Título"/>
          <p:cNvSpPr txBox="1"/>
          <p:nvPr/>
        </p:nvSpPr>
        <p:spPr>
          <a:xfrm>
            <a:off x="713232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Flujo de proceso y Pain Points (puntos de dolor)</a:t>
            </a:r>
            <a:endParaRPr lang="en-US" sz="2500" dirty="0"/>
          </a:p>
        </p:txBody>
      </p:sp>
      <p:sp>
        <p:nvSpPr>
          <p:cNvPr id="4" name="Tarjeta"/>
          <p:cNvSpPr/>
          <p:nvPr/>
        </p:nvSpPr>
        <p:spPr>
          <a:xfrm>
            <a:off x="301752" y="896112"/>
            <a:ext cx="11612880" cy="580644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Panel"/>
          <p:cNvSpPr/>
          <p:nvPr/>
        </p:nvSpPr>
        <p:spPr>
          <a:xfrm>
            <a:off x="658368" y="1078992"/>
            <a:ext cx="10927080" cy="5486400"/>
          </a:xfrm>
          <a:prstGeom prst="roundRect">
            <a:avLst>
              <a:gd name="adj" fmla="val 7500"/>
            </a:avLst>
          </a:prstGeom>
          <a:solidFill>
            <a:srgbClr val="FAFAFA"/>
          </a:solidFill>
          <a:ln w="9525">
            <a:solidFill>
              <a:srgbClr val="F0C5CA"/>
            </a:solidFill>
            <a:prstDash val="solid"/>
          </a:ln>
        </p:spPr>
      </p:sp>
      <p:sp>
        <p:nvSpPr>
          <p:cNvPr id="6" name="Panel del proceso"/>
          <p:cNvSpPr/>
          <p:nvPr/>
        </p:nvSpPr>
        <p:spPr>
          <a:xfrm>
            <a:off x="914400" y="141732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EEF1FC"/>
          </a:solidFill>
          <a:ln w="12700">
            <a:solidFill>
              <a:srgbClr val="C9D0F2"/>
            </a:solidFill>
            <a:prstDash val="solid"/>
          </a:ln>
        </p:spPr>
      </p:sp>
      <p:sp>
        <p:nvSpPr>
          <p:cNvPr id="7" name="Etiqueta del proceso"/>
          <p:cNvSpPr/>
          <p:nvPr/>
        </p:nvSpPr>
        <p:spPr>
          <a:xfrm>
            <a:off x="1051560" y="1216152"/>
            <a:ext cx="3429000" cy="329184"/>
          </a:xfrm>
          <a:prstGeom prst="roundRect">
            <a:avLst>
              <a:gd name="adj" fmla="val 50000"/>
            </a:avLst>
          </a:prstGeom>
          <a:solidFill>
            <a:srgbClr val="2C4B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21615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PRESTACIÓN ECONÓMICA · PROCESO</a:t>
            </a:r>
            <a:endParaRPr lang="en-US" sz="1150" dirty="0"/>
          </a:p>
        </p:txBody>
      </p:sp>
      <p:sp>
        <p:nvSpPr>
          <p:cNvPr id="9" name="Formalización"/>
          <p:cNvSpPr/>
          <p:nvPr/>
        </p:nvSpPr>
        <p:spPr>
          <a:xfrm>
            <a:off x="1024128" y="1682496"/>
            <a:ext cx="2514600" cy="475488"/>
          </a:xfrm>
          <a:prstGeom prst="roundRect">
            <a:avLst>
              <a:gd name="adj" fmla="val 38462"/>
            </a:avLst>
          </a:prstGeom>
          <a:solidFill>
            <a:srgbClr val="FFFFFF"/>
          </a:solidFill>
          <a:ln w="22225">
            <a:solidFill>
              <a:srgbClr val="E233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4128" y="168249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Formalización del acogimiento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 de la Comisión de Tutela · los miércoles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87552" y="2340864"/>
            <a:ext cx="5248656" cy="0"/>
          </a:xfrm>
          <a:prstGeom prst="line">
            <a:avLst/>
          </a:prstGeom>
          <a:noFill/>
          <a:ln w="12700">
            <a:solidFill>
              <a:srgbClr val="9AA3D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703320" y="21671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6B7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PROTECCIÓN · GPME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38658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6B7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INFANCIA · AME + NEXUS</a:t>
            </a:r>
            <a:endParaRPr lang="en-US" sz="700" dirty="0"/>
          </a:p>
        </p:txBody>
      </p:sp>
      <p:sp>
        <p:nvSpPr>
          <p:cNvPr id="14" name="Marca 5"/>
          <p:cNvSpPr/>
          <p:nvPr/>
        </p:nvSpPr>
        <p:spPr>
          <a:xfrm>
            <a:off x="5911596" y="2217420"/>
            <a:ext cx="246888" cy="246888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11596" y="22174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1428" y="2157984"/>
            <a:ext cx="0" cy="36576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482596" y="221284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por correo</a:t>
            </a:r>
            <a:endParaRPr lang="en-US" sz="700" dirty="0"/>
          </a:p>
        </p:txBody>
      </p:sp>
      <p:sp>
        <p:nvSpPr>
          <p:cNvPr id="18" name="Marca 1"/>
          <p:cNvSpPr/>
          <p:nvPr/>
        </p:nvSpPr>
        <p:spPr>
          <a:xfrm>
            <a:off x="2157984" y="2217420"/>
            <a:ext cx="246888" cy="246888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57984" y="22174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Reconocimiento en AME"/>
          <p:cNvSpPr/>
          <p:nvPr/>
        </p:nvSpPr>
        <p:spPr>
          <a:xfrm>
            <a:off x="1024128" y="2523744"/>
            <a:ext cx="2514600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3F4F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4128" y="256946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de la prestación (AME)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33856" y="2820924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33856" y="282092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C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1335024" y="2816352"/>
            <a:ext cx="2093976" cy="146304"/>
          </a:xfrm>
          <a:prstGeom prst="roundRect">
            <a:avLst>
              <a:gd name="adj" fmla="val 31250"/>
            </a:avLst>
          </a:prstGeom>
          <a:solidFill>
            <a:srgbClr val="F7F8FE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08176" y="28163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en AME + acuerdo del pleno (Protección)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133856" y="2992831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33856" y="2992831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C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335024" y="2988259"/>
            <a:ext cx="2093976" cy="146304"/>
          </a:xfrm>
          <a:prstGeom prst="roundRect">
            <a:avLst>
              <a:gd name="adj" fmla="val 31250"/>
            </a:avLst>
          </a:prstGeom>
          <a:solidFill>
            <a:srgbClr val="F7F8FE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408176" y="2988259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de inicio (pide la cuenta corriente)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133856" y="316473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33856" y="316473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C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1335024" y="3160166"/>
            <a:ext cx="2093976" cy="146304"/>
          </a:xfrm>
          <a:prstGeom prst="roundRect">
            <a:avLst>
              <a:gd name="adj" fmla="val 31250"/>
            </a:avLst>
          </a:prstGeom>
          <a:solidFill>
            <a:srgbClr val="F7F8FE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408176" y="316016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+ 10 días de alegaciones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33856" y="3336646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133856" y="333664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C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1335024" y="3332074"/>
            <a:ext cx="2093976" cy="146304"/>
          </a:xfrm>
          <a:prstGeom prst="roundRect">
            <a:avLst>
              <a:gd name="adj" fmla="val 31250"/>
            </a:avLst>
          </a:prstGeom>
          <a:solidFill>
            <a:srgbClr val="F7F8FE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408176" y="333207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de resolución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33856" y="3508553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133856" y="3508553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C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1335024" y="3503981"/>
            <a:ext cx="2093976" cy="146304"/>
          </a:xfrm>
          <a:prstGeom prst="roundRect">
            <a:avLst>
              <a:gd name="adj" fmla="val 31250"/>
            </a:avLst>
          </a:prstGeom>
          <a:solidFill>
            <a:srgbClr val="F7F8FE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408176" y="3503981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Terceros (carga masiva en Nexus)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133856" y="368046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133856" y="368046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C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1335024" y="3675888"/>
            <a:ext cx="2093976" cy="146304"/>
          </a:xfrm>
          <a:prstGeom prst="roundRect">
            <a:avLst>
              <a:gd name="adj" fmla="val 31250"/>
            </a:avLst>
          </a:prstGeom>
          <a:solidFill>
            <a:srgbClr val="F7F8FE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408176" y="36758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contable (D) en la propuesta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133856" y="3852367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33856" y="3852367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C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1335024" y="3847795"/>
            <a:ext cx="2093976" cy="146304"/>
          </a:xfrm>
          <a:prstGeom prst="roundRect">
            <a:avLst>
              <a:gd name="adj" fmla="val 31250"/>
            </a:avLst>
          </a:prstGeom>
          <a:solidFill>
            <a:srgbClr val="F7F8FE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408176" y="3847795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Fiscalización (Intervención)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133856" y="4024274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133856" y="402427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C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335024" y="4019702"/>
            <a:ext cx="2093976" cy="146304"/>
          </a:xfrm>
          <a:prstGeom prst="roundRect">
            <a:avLst>
              <a:gd name="adj" fmla="val 31250"/>
            </a:avLst>
          </a:prstGeom>
          <a:solidFill>
            <a:srgbClr val="F7F8FE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408176" y="401970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(firma de la directora)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133856" y="4196182"/>
            <a:ext cx="137160" cy="137160"/>
          </a:xfrm>
          <a:prstGeom prst="ellipse">
            <a:avLst/>
          </a:prstGeom>
          <a:solidFill>
            <a:srgbClr val="6C3FD1"/>
          </a:solidFill>
          <a:ln w="12700">
            <a:solidFill>
              <a:srgbClr val="6C3FD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133856" y="419618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335024" y="4191610"/>
            <a:ext cx="2093976" cy="146304"/>
          </a:xfrm>
          <a:prstGeom prst="roundRect">
            <a:avLst>
              <a:gd name="adj" fmla="val 31250"/>
            </a:avLst>
          </a:prstGeom>
          <a:solidFill>
            <a:srgbClr val="E6E1FA"/>
          </a:solidFill>
          <a:ln w="6350">
            <a:solidFill>
              <a:srgbClr val="E1E4F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408176" y="419161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en la nómina</a:t>
            </a:r>
            <a:endParaRPr lang="en-US" sz="700" dirty="0"/>
          </a:p>
        </p:txBody>
      </p:sp>
      <p:sp>
        <p:nvSpPr>
          <p:cNvPr id="58" name="Requisito bloqueante"/>
          <p:cNvSpPr/>
          <p:nvPr/>
        </p:nvSpPr>
        <p:spPr>
          <a:xfrm>
            <a:off x="3703320" y="2670048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E39B2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813048" y="272491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B8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REQUISITO BLOQUEANTE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corriente del beneficiario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 en el acuerdo de inicio. Si no llega antes de cargar terceros (día 3), el alta cobra un mes después.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538728" y="3061411"/>
            <a:ext cx="164592" cy="0"/>
          </a:xfrm>
          <a:prstGeom prst="line">
            <a:avLst/>
          </a:prstGeom>
          <a:noFill/>
          <a:ln w="12700">
            <a:solidFill>
              <a:srgbClr val="E39B2F"/>
            </a:solidFill>
            <a:prstDash val="dash"/>
          </a:ln>
        </p:spPr>
      </p:sp>
      <p:sp>
        <p:nvSpPr>
          <p:cNvPr id="61" name="Marca 2"/>
          <p:cNvSpPr/>
          <p:nvPr/>
        </p:nvSpPr>
        <p:spPr>
          <a:xfrm>
            <a:off x="3561588" y="2546604"/>
            <a:ext cx="246888" cy="246888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561588" y="25466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281428" y="4389120"/>
            <a:ext cx="0" cy="18288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64" name="Prestación activa"/>
          <p:cNvSpPr/>
          <p:nvPr/>
        </p:nvSpPr>
        <p:spPr>
          <a:xfrm>
            <a:off x="1024128" y="457200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2C4BD9"/>
          </a:solidFill>
          <a:ln/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65" name="Text 63"/>
          <p:cNvSpPr txBox="1"/>
          <p:nvPr/>
        </p:nvSpPr>
        <p:spPr>
          <a:xfrm>
            <a:off x="1024128" y="4572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Prestación activa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D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mensual por menor acogido</a:t>
            </a:r>
            <a:endParaRPr lang="en-US" sz="1200" dirty="0"/>
          </a:p>
        </p:txBody>
      </p:sp>
      <p:sp>
        <p:nvSpPr>
          <p:cNvPr id="66" name="Marca 3"/>
          <p:cNvSpPr/>
          <p:nvPr/>
        </p:nvSpPr>
        <p:spPr>
          <a:xfrm>
            <a:off x="1865376" y="4357116"/>
            <a:ext cx="246888" cy="246888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865376" y="43571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3703320" y="3511296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C4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DURANTE LA VIGENCIA</a:t>
            </a:r>
            <a:endParaRPr lang="en-US" sz="750" dirty="0"/>
          </a:p>
        </p:txBody>
      </p:sp>
      <p:sp>
        <p:nvSpPr>
          <p:cNvPr id="69" name="Text 67"/>
          <p:cNvSpPr txBox="1"/>
          <p:nvPr/>
        </p:nvSpPr>
        <p:spPr>
          <a:xfrm>
            <a:off x="3703320" y="365760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importe · procedimiento completo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3703320" y="3794760"/>
            <a:ext cx="246888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9D0F2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703320" y="3794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o sale un menor (acuerdo del pleno)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703320" y="4032504"/>
            <a:ext cx="246888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9D0F2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703320" y="4032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Discapacidad del menor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3703320" y="427939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procedimiento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3703320" y="4416552"/>
            <a:ext cx="246888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9D0F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3703320" y="44165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cuenta bancaria o de domicilio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3703320" y="4654296"/>
            <a:ext cx="246888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9D0F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3703320" y="46542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Importes nuevos por Ley de Presupuestos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3621024" y="3895344"/>
            <a:ext cx="0" cy="859536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21024" y="3895344"/>
            <a:ext cx="8229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21024" y="4133088"/>
            <a:ext cx="8229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621024" y="4517136"/>
            <a:ext cx="8229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21024" y="4754880"/>
            <a:ext cx="8229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38728" y="4823460"/>
            <a:ext cx="8229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281428" y="5074920"/>
            <a:ext cx="0" cy="164592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86" name="Evento de extinción"/>
          <p:cNvSpPr/>
          <p:nvPr/>
        </p:nvSpPr>
        <p:spPr>
          <a:xfrm>
            <a:off x="1024128" y="5239512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2C4BD9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24128" y="523951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de extinción</a:t>
            </a:r>
            <a:endParaRPr lang="en-US" sz="1100" dirty="0"/>
          </a:p>
        </p:txBody>
      </p:sp>
      <p:sp>
        <p:nvSpPr>
          <p:cNvPr id="88" name="Text 86"/>
          <p:cNvSpPr txBox="1"/>
          <p:nvPr/>
        </p:nvSpPr>
        <p:spPr>
          <a:xfrm>
            <a:off x="3703320" y="502920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C4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CAUSAS DE EXTINCIÓN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3703320" y="5193792"/>
            <a:ext cx="246888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9D0F2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3703320" y="51937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Cese del acogimiento (acuerdo del pleno)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3703320" y="5431536"/>
            <a:ext cx="246888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9D0F2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3703320" y="54315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B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de edad del menor (18 años)</a:t>
            </a:r>
            <a:endParaRPr lang="en-US" sz="750" dirty="0"/>
          </a:p>
        </p:txBody>
      </p:sp>
      <p:sp>
        <p:nvSpPr>
          <p:cNvPr id="93" name="Text 91"/>
          <p:cNvSpPr txBox="1"/>
          <p:nvPr/>
        </p:nvSpPr>
        <p:spPr>
          <a:xfrm>
            <a:off x="3703320" y="5660136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Renuncia e incumplimiento: en el decreto, sin casos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3621024" y="5294376"/>
            <a:ext cx="0" cy="237744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621024" y="5294376"/>
            <a:ext cx="8229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621024" y="5532120"/>
            <a:ext cx="8229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538728" y="5404104"/>
            <a:ext cx="82296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281428" y="5568696"/>
            <a:ext cx="0" cy="100584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99" name="¿Pago indebido?"/>
          <p:cNvSpPr/>
          <p:nvPr/>
        </p:nvSpPr>
        <p:spPr>
          <a:xfrm>
            <a:off x="1572768" y="5669280"/>
            <a:ext cx="1417320" cy="51206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6C3FD1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572768" y="566928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¿Pago indebido?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 flipH="1">
            <a:off x="1481328" y="5925312"/>
            <a:ext cx="91440" cy="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102" name="Text 100"/>
          <p:cNvSpPr txBox="1"/>
          <p:nvPr/>
        </p:nvSpPr>
        <p:spPr>
          <a:xfrm>
            <a:off x="1499616" y="578815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1005840" y="5815584"/>
            <a:ext cx="47548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C4BD9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005840" y="581558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2990088" y="5925312"/>
            <a:ext cx="713232" cy="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106" name="Text 104"/>
          <p:cNvSpPr txBox="1"/>
          <p:nvPr/>
        </p:nvSpPr>
        <p:spPr>
          <a:xfrm>
            <a:off x="3026664" y="578815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107" name="Reintegro"/>
          <p:cNvSpPr/>
          <p:nvPr/>
        </p:nvSpPr>
        <p:spPr>
          <a:xfrm>
            <a:off x="3703320" y="5870448"/>
            <a:ext cx="1810512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7B3FBF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3703320" y="587044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de reintegro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~2 meses después del cese</a:t>
            </a:r>
            <a:endParaRPr lang="en-US" sz="850" dirty="0"/>
          </a:p>
        </p:txBody>
      </p:sp>
      <p:sp>
        <p:nvSpPr>
          <p:cNvPr id="109" name="Marca 4"/>
          <p:cNvSpPr/>
          <p:nvPr/>
        </p:nvSpPr>
        <p:spPr>
          <a:xfrm>
            <a:off x="3579876" y="5747004"/>
            <a:ext cx="246888" cy="246888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3579876" y="57470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513832" y="6080760"/>
            <a:ext cx="146304" cy="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112" name="Shape 110"/>
          <p:cNvSpPr/>
          <p:nvPr/>
        </p:nvSpPr>
        <p:spPr>
          <a:xfrm>
            <a:off x="5669280" y="5971032"/>
            <a:ext cx="47548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C4BD9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5669280" y="59710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6400800" y="3310128"/>
            <a:ext cx="384048" cy="914400"/>
          </a:xfrm>
          <a:prstGeom prst="chevron">
            <a:avLst/>
          </a:prstGeom>
          <a:solidFill>
            <a:srgbClr val="F2B3B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665976" y="3310128"/>
            <a:ext cx="384048" cy="914400"/>
          </a:xfrm>
          <a:prstGeom prst="chevron">
            <a:avLst/>
          </a:prstGeom>
          <a:solidFill>
            <a:srgbClr val="E07A88"/>
          </a:solidFill>
          <a:ln/>
        </p:spPr>
      </p:sp>
      <p:sp>
        <p:nvSpPr>
          <p:cNvPr id="116" name="Shape 114"/>
          <p:cNvSpPr/>
          <p:nvPr/>
        </p:nvSpPr>
        <p:spPr>
          <a:xfrm>
            <a:off x="6931152" y="3310128"/>
            <a:ext cx="384048" cy="914400"/>
          </a:xfrm>
          <a:prstGeom prst="chevron">
            <a:avLst/>
          </a:prstGeom>
          <a:solidFill>
            <a:srgbClr val="C0172E"/>
          </a:solidFill>
          <a:ln/>
        </p:spPr>
      </p:sp>
      <p:sp>
        <p:nvSpPr>
          <p:cNvPr id="117" name="Panel de pain points"/>
          <p:cNvSpPr/>
          <p:nvPr/>
        </p:nvSpPr>
        <p:spPr>
          <a:xfrm>
            <a:off x="7315200" y="1481328"/>
            <a:ext cx="4160520" cy="4873752"/>
          </a:xfrm>
          <a:prstGeom prst="roundRect">
            <a:avLst>
              <a:gd name="adj" fmla="val 12088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18" name="Cabecera de pain points"/>
          <p:cNvSpPr/>
          <p:nvPr/>
        </p:nvSpPr>
        <p:spPr>
          <a:xfrm>
            <a:off x="8156448" y="1261872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C0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8156448" y="126187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priorizados</a:t>
            </a:r>
            <a:endParaRPr lang="en-US" sz="1500" dirty="0"/>
          </a:p>
        </p:txBody>
      </p:sp>
      <p:sp>
        <p:nvSpPr>
          <p:cNvPr id="120" name="Marca 1"/>
          <p:cNvSpPr/>
          <p:nvPr/>
        </p:nvSpPr>
        <p:spPr>
          <a:xfrm>
            <a:off x="7534656" y="2048256"/>
            <a:ext cx="329184" cy="329184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7534656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2" name="Pain point 1"/>
          <p:cNvSpPr txBox="1"/>
          <p:nvPr/>
        </p:nvSpPr>
        <p:spPr>
          <a:xfrm>
            <a:off x="8001000" y="1847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Formalización → alta en AME</a:t>
            </a:r>
            <a:endParaRPr lang="en-US" sz="1050" dirty="0"/>
          </a:p>
        </p:txBody>
      </p:sp>
      <p:sp>
        <p:nvSpPr>
          <p:cNvPr id="123" name="Text 121"/>
          <p:cNvSpPr txBox="1"/>
          <p:nvPr/>
        </p:nvSpPr>
        <p:spPr>
          <a:xfrm>
            <a:off x="8001000" y="205740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pleno acuerda los miércoles; Protección graba el alta en AME y avisa por correo. Ha pasado de ~2 meses a ~1 semana, pero hay casos de meses que Infancia descubre cuando escribe la familia, porque no ve los plenos. Ese tiempo son atrasos.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8001000" y="2679192"/>
            <a:ext cx="315468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25" name="Marca 2"/>
          <p:cNvSpPr/>
          <p:nvPr/>
        </p:nvSpPr>
        <p:spPr>
          <a:xfrm>
            <a:off x="7534656" y="2935224"/>
            <a:ext cx="329184" cy="329184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7534656" y="293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7" name="Pain point 2"/>
          <p:cNvSpPr txBox="1"/>
          <p:nvPr/>
        </p:nvSpPr>
        <p:spPr>
          <a:xfrm>
            <a:off x="8001000" y="27340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→ primer pago</a:t>
            </a:r>
            <a:endParaRPr lang="en-US" sz="1050" dirty="0"/>
          </a:p>
        </p:txBody>
      </p:sp>
      <p:sp>
        <p:nvSpPr>
          <p:cNvPr id="128" name="Text 126"/>
          <p:cNvSpPr txBox="1"/>
          <p:nvPr/>
        </p:nvSpPr>
        <p:spPr>
          <a:xfrm>
            <a:off x="8001000" y="294436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cobrar en un mes, el alta tiene que entrar en la propuesta (cierra los días 3–5) con el acuerdo notificado, los 10 días de alegaciones y la cuenta corriente. Si la cuenta llega tarde, cobra un mes después. Las resoluciones se hacen copiando y pegando.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8001000" y="3566160"/>
            <a:ext cx="315468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30" name="Marca 3"/>
          <p:cNvSpPr/>
          <p:nvPr/>
        </p:nvSpPr>
        <p:spPr>
          <a:xfrm>
            <a:off x="7534656" y="3822192"/>
            <a:ext cx="329184" cy="329184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7534656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2" name="Pain point 3"/>
          <p:cNvSpPr txBox="1"/>
          <p:nvPr/>
        </p:nvSpPr>
        <p:spPr>
          <a:xfrm>
            <a:off x="8001000" y="36210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Prestación activa · cambios de importe</a:t>
            </a:r>
            <a:endParaRPr lang="en-US" sz="1050" dirty="0"/>
          </a:p>
        </p:txBody>
      </p:sp>
      <p:sp>
        <p:nvSpPr>
          <p:cNvPr id="133" name="Text 131"/>
          <p:cNvSpPr txBox="1"/>
          <p:nvPr/>
        </p:nvSpPr>
        <p:spPr>
          <a:xfrm>
            <a:off x="8001000" y="383133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entra o sale un menor o aparece una discapacidad, hay que abrir un procedimiento completo y gestión económica hace el DECOM a mano. La discapacidad no llega por un canal fijo. AME prorratea solo, pero falla en expedientes complejos y se recalcula para comprobar.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8001000" y="4453128"/>
            <a:ext cx="315468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35" name="Marca 4"/>
          <p:cNvSpPr/>
          <p:nvPr/>
        </p:nvSpPr>
        <p:spPr>
          <a:xfrm>
            <a:off x="7534656" y="4709160"/>
            <a:ext cx="329184" cy="329184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7534656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37" name="Pain point 4"/>
          <p:cNvSpPr txBox="1"/>
          <p:nvPr/>
        </p:nvSpPr>
        <p:spPr>
          <a:xfrm>
            <a:off x="8001000" y="45079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Cese → pago indebido → reintegro</a:t>
            </a:r>
            <a:endParaRPr lang="en-US" sz="1050" dirty="0"/>
          </a:p>
        </p:txBody>
      </p:sp>
      <p:sp>
        <p:nvSpPr>
          <p:cNvPr id="138" name="Text 136"/>
          <p:cNvSpPr txBox="1"/>
          <p:nvPr/>
        </p:nvSpPr>
        <p:spPr>
          <a:xfrm>
            <a:off x="8001000" y="471830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espejo del alta: si el cese tarda en llegar a AME, se siguen pagando nóminas desde la fecha de efectos. El reintegro no empieza hasta ~2 meses después (notificación y plazo de recurso) y las familias alegan el tiempo pasado para anularlo.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8001000" y="5340096"/>
            <a:ext cx="315468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</p:sp>
      <p:sp>
        <p:nvSpPr>
          <p:cNvPr id="140" name="Marca 5"/>
          <p:cNvSpPr/>
          <p:nvPr/>
        </p:nvSpPr>
        <p:spPr>
          <a:xfrm>
            <a:off x="7534656" y="5596128"/>
            <a:ext cx="329184" cy="329184"/>
          </a:xfrm>
          <a:prstGeom prst="ellipse">
            <a:avLst/>
          </a:prstGeom>
          <a:solidFill>
            <a:srgbClr val="D4D4D4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7534656" y="5596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42" name="Pain point 5"/>
          <p:cNvSpPr txBox="1"/>
          <p:nvPr/>
        </p:nvSpPr>
        <p:spPr>
          <a:xfrm>
            <a:off x="8001000" y="53949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· integración</a:t>
            </a:r>
            <a:endParaRPr lang="en-US" sz="1050" dirty="0"/>
          </a:p>
        </p:txBody>
      </p:sp>
      <p:sp>
        <p:nvSpPr>
          <p:cNvPr id="143" name="Text 141"/>
          <p:cNvSpPr txBox="1"/>
          <p:nvPr/>
        </p:nvSpPr>
        <p:spPr>
          <a:xfrm>
            <a:off x="8001000" y="560527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subdirecciones y dos resoluciones: Protección (pleno, GPME) e Infancia (AME + Nexus), unidas por correo. Dentro de AME todo está conectado; lo que falta es el puente GPME → AME para medir del pleno al pago.</a:t>
            </a:r>
            <a:endParaRPr lang="en-US" sz="800" dirty="0"/>
          </a:p>
        </p:txBody>
      </p:sp>
      <p:sp>
        <p:nvSpPr>
          <p:cNvPr id="144" name="Text 142"/>
          <p:cNvSpPr txBox="1"/>
          <p:nvPr/>
        </p:nvSpPr>
        <p:spPr>
          <a:xfrm>
            <a:off x="7315200" y="6400800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Revisado con el servicio (sesión del 14/08) · Decreto 44/2022: reconocimiento, modificación, extinción y reintegro</a:t>
            </a:r>
            <a:endParaRPr lang="en-US" sz="650" dirty="0"/>
          </a:p>
        </p:txBody>
      </p:sp>
      <p:sp>
        <p:nvSpPr>
          <p:cNvPr id="145" name="Text 143"/>
          <p:cNvSpPr txBox="1"/>
          <p:nvPr/>
        </p:nvSpPr>
        <p:spPr>
          <a:xfrm>
            <a:off x="116586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Flujo de proceso y Pain Points · Acogimiento familiar</dc:title>
  <dc:subject>PptxGenJS Presentation</dc:subject>
  <dc:creator>PptxGenJS</dc:creator>
  <cp:lastModifiedBy>PptxGenJS</cp:lastModifiedBy>
  <cp:revision>1</cp:revision>
  <dcterms:created xsi:type="dcterms:W3CDTF">2026-10-28T16:23:14Z</dcterms:created>
  <dcterms:modified xsi:type="dcterms:W3CDTF">2026-10-28T16:23:14Z</dcterms:modified>
</cp:coreProperties>
</file>