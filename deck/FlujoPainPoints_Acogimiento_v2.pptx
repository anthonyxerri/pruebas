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del título"/>
          <p:cNvSpPr/>
          <p:nvPr/>
        </p:nvSpPr>
        <p:spPr>
          <a:xfrm>
            <a:off x="347472" y="274320"/>
            <a:ext cx="11475720" cy="868680"/>
          </a:xfrm>
          <a:prstGeom prst="roundRect">
            <a:avLst>
              <a:gd name="adj" fmla="val 21053"/>
            </a:avLst>
          </a:prstGeom>
          <a:solidFill>
            <a:srgbClr val="F4A7AF"/>
          </a:solidFill>
          <a:ln/>
        </p:spPr>
      </p:sp>
      <p:sp>
        <p:nvSpPr>
          <p:cNvPr id="3" name="Título"/>
          <p:cNvSpPr txBox="1"/>
          <p:nvPr/>
        </p:nvSpPr>
        <p:spPr>
          <a:xfrm>
            <a:off x="713232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Flujo de proceso y Pain Points (puntos de dolor)</a:t>
            </a:r>
            <a:endParaRPr lang="en-US" sz="2500" dirty="0"/>
          </a:p>
        </p:txBody>
      </p:sp>
      <p:sp>
        <p:nvSpPr>
          <p:cNvPr id="4" name="Tarjeta"/>
          <p:cNvSpPr/>
          <p:nvPr/>
        </p:nvSpPr>
        <p:spPr>
          <a:xfrm>
            <a:off x="301752" y="896112"/>
            <a:ext cx="11612880" cy="580644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Panel"/>
          <p:cNvSpPr/>
          <p:nvPr/>
        </p:nvSpPr>
        <p:spPr>
          <a:xfrm>
            <a:off x="658368" y="1078992"/>
            <a:ext cx="10927080" cy="5486400"/>
          </a:xfrm>
          <a:prstGeom prst="roundRect">
            <a:avLst>
              <a:gd name="adj" fmla="val 7500"/>
            </a:avLst>
          </a:prstGeom>
          <a:solidFill>
            <a:srgbClr val="FAFAFA"/>
          </a:solidFill>
          <a:ln w="9525">
            <a:solidFill>
              <a:srgbClr val="F0C5CA"/>
            </a:solidFill>
            <a:prstDash val="solid"/>
          </a:ln>
        </p:spPr>
      </p:sp>
      <p:sp>
        <p:nvSpPr>
          <p:cNvPr id="6" name="Panel del proceso"/>
          <p:cNvSpPr/>
          <p:nvPr/>
        </p:nvSpPr>
        <p:spPr>
          <a:xfrm>
            <a:off x="914400" y="141732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EEF1FC"/>
          </a:solidFill>
          <a:ln w="12700">
            <a:solidFill>
              <a:srgbClr val="C9D0F2"/>
            </a:solidFill>
            <a:prstDash val="solid"/>
          </a:ln>
        </p:spPr>
      </p:sp>
      <p:sp>
        <p:nvSpPr>
          <p:cNvPr id="7" name="Etiqueta del proceso"/>
          <p:cNvSpPr/>
          <p:nvPr/>
        </p:nvSpPr>
        <p:spPr>
          <a:xfrm>
            <a:off x="1051560" y="1216152"/>
            <a:ext cx="3429000" cy="329184"/>
          </a:xfrm>
          <a:prstGeom prst="roundRect">
            <a:avLst>
              <a:gd name="adj" fmla="val 50000"/>
            </a:avLst>
          </a:prstGeom>
          <a:solidFill>
            <a:srgbClr val="2C4B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21615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PRESTACIÓN ECONÓMICA · PROCESO</a:t>
            </a:r>
            <a:endParaRPr lang="en-US" sz="1150" dirty="0"/>
          </a:p>
        </p:txBody>
      </p:sp>
      <p:sp>
        <p:nvSpPr>
          <p:cNvPr id="9" name="Marca 5"/>
          <p:cNvSpPr/>
          <p:nvPr/>
        </p:nvSpPr>
        <p:spPr>
          <a:xfrm>
            <a:off x="4553712" y="1252728"/>
            <a:ext cx="256032" cy="256032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252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Pleno"/>
          <p:cNvSpPr/>
          <p:nvPr/>
        </p:nvSpPr>
        <p:spPr>
          <a:xfrm>
            <a:off x="1024128" y="1737360"/>
            <a:ext cx="2514600" cy="512064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22225">
            <a:solidFill>
              <a:srgbClr val="E233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173736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de la Comisión de Tutela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 el acogimiento · los miércoles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1428" y="2249424"/>
            <a:ext cx="0" cy="420624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14" name="Marca 1"/>
          <p:cNvSpPr/>
          <p:nvPr/>
        </p:nvSpPr>
        <p:spPr>
          <a:xfrm>
            <a:off x="2153412" y="2322576"/>
            <a:ext cx="256032" cy="256032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53412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482596" y="2377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en AME y aviso por correo</a:t>
            </a:r>
            <a:endParaRPr lang="en-US" sz="750" dirty="0"/>
          </a:p>
        </p:txBody>
      </p:sp>
      <p:sp>
        <p:nvSpPr>
          <p:cNvPr id="17" name="Reconocimiento en AME"/>
          <p:cNvSpPr/>
          <p:nvPr/>
        </p:nvSpPr>
        <p:spPr>
          <a:xfrm>
            <a:off x="1024128" y="2670048"/>
            <a:ext cx="2514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3F4F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4128" y="27340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en AME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52144" y="303123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52144" y="303123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389888" y="3017520"/>
            <a:ext cx="2039112" cy="182880"/>
          </a:xfrm>
          <a:prstGeom prst="roundRect">
            <a:avLst>
              <a:gd name="adj" fmla="val 2500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63040" y="30175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inicio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52144" y="324612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52144" y="32461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389888" y="3232404"/>
            <a:ext cx="2039112" cy="182880"/>
          </a:xfrm>
          <a:prstGeom prst="roundRect">
            <a:avLst>
              <a:gd name="adj" fmla="val 2500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63040" y="32324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días de alegaciones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52144" y="346100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2144" y="34610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89888" y="3447288"/>
            <a:ext cx="2039112" cy="182880"/>
          </a:xfrm>
          <a:prstGeom prst="roundRect">
            <a:avLst>
              <a:gd name="adj" fmla="val 2500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463040" y="34472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mensual (terceros y D)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52144" y="36758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52144" y="36758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389888" y="3662172"/>
            <a:ext cx="2039112" cy="182880"/>
          </a:xfrm>
          <a:prstGeom prst="roundRect">
            <a:avLst>
              <a:gd name="adj" fmla="val 2500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63040" y="36621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 y resolución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52144" y="3890772"/>
            <a:ext cx="155448" cy="155448"/>
          </a:xfrm>
          <a:prstGeom prst="ellipse">
            <a:avLst/>
          </a:prstGeom>
          <a:solidFill>
            <a:srgbClr val="6C3FD1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52144" y="389077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389888" y="3877056"/>
            <a:ext cx="2039112" cy="182880"/>
          </a:xfrm>
          <a:prstGeom prst="roundRect">
            <a:avLst>
              <a:gd name="adj" fmla="val 25000"/>
            </a:avLst>
          </a:prstGeom>
          <a:solidFill>
            <a:srgbClr val="E6E1FA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463040" y="387705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la nómina</a:t>
            </a:r>
            <a:endParaRPr lang="en-US" sz="800" dirty="0"/>
          </a:p>
        </p:txBody>
      </p:sp>
      <p:sp>
        <p:nvSpPr>
          <p:cNvPr id="39" name="Requisito bloqueante"/>
          <p:cNvSpPr/>
          <p:nvPr/>
        </p:nvSpPr>
        <p:spPr>
          <a:xfrm>
            <a:off x="3749040" y="2743200"/>
            <a:ext cx="2423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E39B2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877056" y="2798064"/>
            <a:ext cx="2203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8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REQUISITO BLOQUEANTE</a:t>
            </a:r>
            <a:endParaRPr lang="en-US" sz="70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 del beneficiario</a:t>
            </a:r>
            <a:endParaRPr lang="en-US" sz="7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llega a tiempo, cobra un mes después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538728" y="3108960"/>
            <a:ext cx="210312" cy="0"/>
          </a:xfrm>
          <a:prstGeom prst="line">
            <a:avLst/>
          </a:prstGeom>
          <a:noFill/>
          <a:ln w="12700">
            <a:solidFill>
              <a:srgbClr val="E39B2F"/>
            </a:solidFill>
            <a:prstDash val="dash"/>
          </a:ln>
        </p:spPr>
      </p:sp>
      <p:sp>
        <p:nvSpPr>
          <p:cNvPr id="42" name="Marca 2"/>
          <p:cNvSpPr/>
          <p:nvPr/>
        </p:nvSpPr>
        <p:spPr>
          <a:xfrm>
            <a:off x="3621024" y="2615184"/>
            <a:ext cx="256032" cy="256032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21024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1428" y="4133088"/>
            <a:ext cx="0" cy="219456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45" name="Prestación activa"/>
          <p:cNvSpPr/>
          <p:nvPr/>
        </p:nvSpPr>
        <p:spPr>
          <a:xfrm>
            <a:off x="1024128" y="4352544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2C4BD9"/>
          </a:solidFill>
          <a:ln/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1024128" y="43525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Prestación activa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mensual por menor acogido</a:t>
            </a:r>
            <a:endParaRPr lang="en-US" sz="1200" dirty="0"/>
          </a:p>
        </p:txBody>
      </p:sp>
      <p:sp>
        <p:nvSpPr>
          <p:cNvPr id="47" name="Marca 3"/>
          <p:cNvSpPr/>
          <p:nvPr/>
        </p:nvSpPr>
        <p:spPr>
          <a:xfrm>
            <a:off x="1860804" y="4114800"/>
            <a:ext cx="256032" cy="256032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860804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3749040" y="365760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C4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DURANTE LA VIGENCIA · cambio de importe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749040" y="3877056"/>
            <a:ext cx="24231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749040" y="387705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Pleno: entra o sale un menor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749040" y="4160520"/>
            <a:ext cx="24231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749040" y="4160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Discapacidad del menor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66744" y="3991356"/>
            <a:ext cx="0" cy="612648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66744" y="3991356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66744" y="4274820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38728" y="4604004"/>
            <a:ext cx="12801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1428" y="4855464"/>
            <a:ext cx="0" cy="173736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59" name="Evento de extinción"/>
          <p:cNvSpPr/>
          <p:nvPr/>
        </p:nvSpPr>
        <p:spPr>
          <a:xfrm>
            <a:off x="1024128" y="502920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2C4BD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24128" y="5029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de extinción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3749040" y="473659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C4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CAUSAS DE EXTINCIÓN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749040" y="4956048"/>
            <a:ext cx="24231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749040" y="49560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Pleno: cese del acogimiento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749040" y="5239512"/>
            <a:ext cx="24231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749040" y="52395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edad (18 años)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66744" y="5070348"/>
            <a:ext cx="0" cy="283464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66744" y="5070348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66744" y="5353812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38728" y="5212080"/>
            <a:ext cx="12801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81428" y="5394960"/>
            <a:ext cx="0" cy="146304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71" name="¿Pago indebido?"/>
          <p:cNvSpPr/>
          <p:nvPr/>
        </p:nvSpPr>
        <p:spPr>
          <a:xfrm>
            <a:off x="1549908" y="5541264"/>
            <a:ext cx="1463040" cy="51206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6C3FD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549908" y="55412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¿Pago indebido?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 flipH="1">
            <a:off x="1481328" y="5797296"/>
            <a:ext cx="68580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74" name="Text 72"/>
          <p:cNvSpPr txBox="1"/>
          <p:nvPr/>
        </p:nvSpPr>
        <p:spPr>
          <a:xfrm>
            <a:off x="1499616" y="565099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05840" y="5687568"/>
            <a:ext cx="47548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C4BD9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05840" y="56875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012948" y="5797296"/>
            <a:ext cx="736092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3058668" y="565099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700" dirty="0"/>
          </a:p>
        </p:txBody>
      </p:sp>
      <p:sp>
        <p:nvSpPr>
          <p:cNvPr id="79" name="Reintegro"/>
          <p:cNvSpPr/>
          <p:nvPr/>
        </p:nvSpPr>
        <p:spPr>
          <a:xfrm>
            <a:off x="3749040" y="5596128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7B3FB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749040" y="55961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Reintegro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~2 meses después</a:t>
            </a:r>
            <a:endParaRPr lang="en-US" sz="950" dirty="0"/>
          </a:p>
        </p:txBody>
      </p:sp>
      <p:sp>
        <p:nvSpPr>
          <p:cNvPr id="81" name="Marca 4"/>
          <p:cNvSpPr/>
          <p:nvPr/>
        </p:nvSpPr>
        <p:spPr>
          <a:xfrm>
            <a:off x="3621024" y="5468112"/>
            <a:ext cx="256032" cy="256032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621024" y="5468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486400" y="5797296"/>
            <a:ext cx="155448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5650992" y="5687568"/>
            <a:ext cx="47548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C4BD9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650992" y="56875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400800" y="3310128"/>
            <a:ext cx="384048" cy="914400"/>
          </a:xfrm>
          <a:prstGeom prst="chevron">
            <a:avLst/>
          </a:prstGeom>
          <a:solidFill>
            <a:srgbClr val="F2B3BA"/>
          </a:solidFill>
          <a:ln/>
        </p:spPr>
      </p:sp>
      <p:sp>
        <p:nvSpPr>
          <p:cNvPr id="87" name="Shape 85"/>
          <p:cNvSpPr/>
          <p:nvPr/>
        </p:nvSpPr>
        <p:spPr>
          <a:xfrm>
            <a:off x="6665976" y="3310128"/>
            <a:ext cx="384048" cy="914400"/>
          </a:xfrm>
          <a:prstGeom prst="chevron">
            <a:avLst/>
          </a:prstGeom>
          <a:solidFill>
            <a:srgbClr val="E07A88"/>
          </a:solidFill>
          <a:ln/>
        </p:spPr>
      </p:sp>
      <p:sp>
        <p:nvSpPr>
          <p:cNvPr id="88" name="Shape 86"/>
          <p:cNvSpPr/>
          <p:nvPr/>
        </p:nvSpPr>
        <p:spPr>
          <a:xfrm>
            <a:off x="6931152" y="3310128"/>
            <a:ext cx="384048" cy="914400"/>
          </a:xfrm>
          <a:prstGeom prst="chevron">
            <a:avLst/>
          </a:prstGeom>
          <a:solidFill>
            <a:srgbClr val="C0172E"/>
          </a:solidFill>
          <a:ln/>
        </p:spPr>
      </p:sp>
      <p:sp>
        <p:nvSpPr>
          <p:cNvPr id="89" name="Panel de pain points"/>
          <p:cNvSpPr/>
          <p:nvPr/>
        </p:nvSpPr>
        <p:spPr>
          <a:xfrm>
            <a:off x="7315200" y="1481328"/>
            <a:ext cx="4160520" cy="4873752"/>
          </a:xfrm>
          <a:prstGeom prst="roundRect">
            <a:avLst>
              <a:gd name="adj" fmla="val 12088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0" name="Cabecera de pain points"/>
          <p:cNvSpPr/>
          <p:nvPr/>
        </p:nvSpPr>
        <p:spPr>
          <a:xfrm>
            <a:off x="8156448" y="1261872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C0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156448" y="12618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priorizados</a:t>
            </a:r>
            <a:endParaRPr lang="en-US" sz="1500" dirty="0"/>
          </a:p>
        </p:txBody>
      </p:sp>
      <p:sp>
        <p:nvSpPr>
          <p:cNvPr id="92" name="Marca 1"/>
          <p:cNvSpPr/>
          <p:nvPr/>
        </p:nvSpPr>
        <p:spPr>
          <a:xfrm>
            <a:off x="7534656" y="2039112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534656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4" name="Pain point 1"/>
          <p:cNvSpPr txBox="1"/>
          <p:nvPr/>
        </p:nvSpPr>
        <p:spPr>
          <a:xfrm>
            <a:off x="8001000" y="19385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→ alta en AME</a:t>
            </a:r>
            <a:endParaRPr lang="en-US" sz="1150" dirty="0"/>
          </a:p>
        </p:txBody>
      </p:sp>
      <p:sp>
        <p:nvSpPr>
          <p:cNvPr id="95" name="Text 93"/>
          <p:cNvSpPr txBox="1"/>
          <p:nvPr/>
        </p:nvSpPr>
        <p:spPr>
          <a:xfrm>
            <a:off x="8001000" y="21762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acuerdo llega a AME por correo y a mano; a veces tarda meses y se acumulan atrasos.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001000" y="2697480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97" name="Marca 2"/>
          <p:cNvSpPr/>
          <p:nvPr/>
        </p:nvSpPr>
        <p:spPr>
          <a:xfrm>
            <a:off x="7534656" y="2907792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7534656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9" name="Pain point 2"/>
          <p:cNvSpPr txBox="1"/>
          <p:nvPr/>
        </p:nvSpPr>
        <p:spPr>
          <a:xfrm>
            <a:off x="8001000" y="28072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→ primer pago</a:t>
            </a:r>
            <a:endParaRPr lang="en-US" sz="1150" dirty="0"/>
          </a:p>
        </p:txBody>
      </p:sp>
      <p:sp>
        <p:nvSpPr>
          <p:cNvPr id="100" name="Text 98"/>
          <p:cNvSpPr txBox="1"/>
          <p:nvPr/>
        </p:nvSpPr>
        <p:spPr>
          <a:xfrm>
            <a:off x="8001000" y="3044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llegar a la propuesta mensual con alegaciones y cuenta; si no, cobra un mes después.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001000" y="3566160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02" name="Marca 3"/>
          <p:cNvSpPr/>
          <p:nvPr/>
        </p:nvSpPr>
        <p:spPr>
          <a:xfrm>
            <a:off x="7534656" y="3776472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534656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4" name="Pain point 3"/>
          <p:cNvSpPr txBox="1"/>
          <p:nvPr/>
        </p:nvSpPr>
        <p:spPr>
          <a:xfrm>
            <a:off x="8001000" y="3675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importe</a:t>
            </a:r>
            <a:endParaRPr lang="en-US" sz="1150" dirty="0"/>
          </a:p>
        </p:txBody>
      </p:sp>
      <p:sp>
        <p:nvSpPr>
          <p:cNvPr id="105" name="Text 103"/>
          <p:cNvSpPr txBox="1"/>
          <p:nvPr/>
        </p:nvSpPr>
        <p:spPr>
          <a:xfrm>
            <a:off x="8001000" y="391363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es un procedimiento completo y un DECOM manual en gestión económica.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8001000" y="4434840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07" name="Marca 4"/>
          <p:cNvSpPr/>
          <p:nvPr/>
        </p:nvSpPr>
        <p:spPr>
          <a:xfrm>
            <a:off x="7534656" y="4645152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7534656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9" name="Pain point 4"/>
          <p:cNvSpPr txBox="1"/>
          <p:nvPr/>
        </p:nvSpPr>
        <p:spPr>
          <a:xfrm>
            <a:off x="8001000" y="45445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Cese → pago indebido → reintegro</a:t>
            </a:r>
            <a:endParaRPr lang="en-US" sz="1150" dirty="0"/>
          </a:p>
        </p:txBody>
      </p:sp>
      <p:sp>
        <p:nvSpPr>
          <p:cNvPr id="110" name="Text 108"/>
          <p:cNvSpPr txBox="1"/>
          <p:nvPr/>
        </p:nvSpPr>
        <p:spPr>
          <a:xfrm>
            <a:off x="8001000" y="47823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cese llega tarde a AME se paga de más; el reintegro empieza ~2 meses después.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8001000" y="5303520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12" name="Marca 5"/>
          <p:cNvSpPr/>
          <p:nvPr/>
        </p:nvSpPr>
        <p:spPr>
          <a:xfrm>
            <a:off x="7534656" y="5513832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534656" y="5513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4" name="Pain point 5"/>
          <p:cNvSpPr txBox="1"/>
          <p:nvPr/>
        </p:nvSpPr>
        <p:spPr>
          <a:xfrm>
            <a:off x="8001000" y="54132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· integración</a:t>
            </a:r>
            <a:endParaRPr lang="en-US" sz="1150" dirty="0"/>
          </a:p>
        </p:txBody>
      </p:sp>
      <p:sp>
        <p:nvSpPr>
          <p:cNvPr id="115" name="Text 113"/>
          <p:cNvSpPr txBox="1"/>
          <p:nvPr/>
        </p:nvSpPr>
        <p:spPr>
          <a:xfrm>
            <a:off x="8001000" y="56509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(GPME) y prestación (AME + Nexus) sin conexión ni trazabilidad conjunta.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7315200" y="6400800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Revisado con el servicio (sesión del 14/08) · Decreto 44/2022</a:t>
            </a:r>
            <a:endParaRPr lang="en-US" sz="650" dirty="0"/>
          </a:p>
        </p:txBody>
      </p:sp>
      <p:sp>
        <p:nvSpPr>
          <p:cNvPr id="117" name="Text 115"/>
          <p:cNvSpPr txBox="1"/>
          <p:nvPr/>
        </p:nvSpPr>
        <p:spPr>
          <a:xfrm>
            <a:off x="116586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 de proceso y Pain Points · Acogimiento familiar</dc:title>
  <dc:subject>PptxGenJS Presentation</dc:subject>
  <dc:creator>PptxGenJS</dc:creator>
  <cp:lastModifiedBy>PptxGenJS</cp:lastModifiedBy>
  <cp:revision>1</cp:revision>
  <dcterms:created xsi:type="dcterms:W3CDTF">2026-10-28T17:26:21Z</dcterms:created>
  <dcterms:modified xsi:type="dcterms:W3CDTF">2026-10-28T17:26:21Z</dcterms:modified>
</cp:coreProperties>
</file>